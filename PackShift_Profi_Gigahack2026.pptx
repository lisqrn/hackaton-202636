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1"/>
          </a:solidFill>
          <a:ln>
            <a:solidFill>
              <a:srgbClr val="0A0E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  <a:latin typeface="JetBrains Mono"/>
              </a:defRPr>
            </a:pPr>
            <a:r>
              <a:t>DEEPTECH GIGAHACK 2026 • BIOMENTORHUB × PROFI TRACK</a:t>
            </a:r>
          </a:p>
          <a:p>
            <a:pPr algn="ctr">
              <a:defRPr sz="4600" b="1">
                <a:solidFill>
                  <a:srgbClr val="FFFFFF"/>
                </a:solidFill>
                <a:latin typeface="Plus Jakarta Sans"/>
              </a:defRPr>
            </a:pPr>
            <a:br/>
            <a:r>
              <a:t>PackShift</a:t>
            </a:r>
          </a:p>
          <a:p>
            <a:pPr algn="ctr">
              <a:defRPr sz="1300" b="1">
                <a:solidFill>
                  <a:srgbClr val="34D399"/>
                </a:solidFill>
                <a:latin typeface="JetBrains Mono"/>
              </a:defRPr>
            </a:pPr>
            <a:r>
              <a:t>ВЫСОКОКРИСТАЛЛИЧЕСКАЯ И БИОМИМЕТИЧЕСКАЯ МОНО-МАТЕРИАЛЬНАЯ ПЛАТФОРМА</a:t>
            </a:r>
          </a:p>
          <a:p>
            <a:pPr algn="ctr">
              <a:defRPr sz="1400">
                <a:solidFill>
                  <a:srgbClr val="94A3B8"/>
                </a:solidFill>
                <a:latin typeface="Plus Jakarta Sans"/>
              </a:defRPr>
            </a:pPr>
            <a:br/>
            <a:r>
              <a:t>Разрешая ключевой парадокс материаловедения: термостойкость до 250°C при 100% циркулярности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931920"/>
            <a:ext cx="3291840" cy="2377440"/>
          </a:xfrm>
          <a:prstGeom prst="roundRect">
            <a:avLst/>
          </a:prstGeom>
          <a:solidFill>
            <a:srgbClr val="102E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411480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Plus Jakarta Sans"/>
              </a:defRPr>
            </a:pPr>
            <a:r>
              <a:t>🧬 Нано-кристаллизация</a:t>
            </a:r>
          </a:p>
          <a:p>
            <a:pPr algn="ctr">
              <a:defRPr sz="2200" b="1">
                <a:solidFill>
                  <a:srgbClr val="34D399"/>
                </a:solidFill>
                <a:latin typeface="JetBrains Mono"/>
              </a:defRPr>
            </a:pPr>
            <a:br/>
            <a:r>
              <a:t>χc &gt; 38%</a:t>
            </a:r>
            <a:br/>
          </a:p>
          <a:p>
            <a:pPr algn="ctr"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Модифицированный rPET. Термостойкость до 250°C без деформации в витрине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3984" y="3931920"/>
            <a:ext cx="3291840" cy="237744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81144" y="411480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Plus Jakarta Sans"/>
              </a:defRPr>
            </a:pPr>
            <a:r>
              <a:t>🌿 Биомиметический барьер</a:t>
            </a:r>
          </a:p>
          <a:p>
            <a:pPr algn="ctr">
              <a:defRPr sz="2200" b="1">
                <a:solidFill>
                  <a:srgbClr val="34D399"/>
                </a:solidFill>
                <a:latin typeface="JetBrains Mono"/>
              </a:defRPr>
            </a:pPr>
            <a:br/>
            <a:r>
              <a:t>Kit 12 • 0% PFAS</a:t>
            </a:r>
            <a:br/>
          </a:p>
          <a:p>
            <a:pPr algn="ctr"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Ионно-сшитая матрица (альгинат + хитозан). Барьер горячих масел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73568" y="3931920"/>
            <a:ext cx="3291840" cy="237744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0728" y="411480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Plus Jakarta Sans"/>
              </a:defRPr>
            </a:pPr>
            <a:r>
              <a:t>🔄 Чистая циркулярность</a:t>
            </a:r>
          </a:p>
          <a:p>
            <a:pPr algn="ctr">
              <a:defRPr sz="2200" b="1">
                <a:solidFill>
                  <a:srgbClr val="34D399"/>
                </a:solidFill>
                <a:latin typeface="JetBrains Mono"/>
              </a:defRPr>
            </a:pPr>
            <a:br/>
            <a:r>
              <a:t>RecyClass A</a:t>
            </a:r>
            <a:br/>
          </a:p>
          <a:p>
            <a:pPr algn="ctr"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100% моно-материалы: чистая сортировка в поток ПЭТ или домашний компост 60 дн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1"/>
          </a:solidFill>
          <a:ln>
            <a:solidFill>
              <a:srgbClr val="0A0E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ФУНДАМЕНТАЛЬНЫЙ ВЫЗОВ • ТЕОРИЯ МАТЕРИАЛОВ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Plus Jakarta Sans"/>
              </a:defRPr>
            </a:pPr>
            <a:r>
              <a:t>Материаловедческая трилемма пищевой упаковки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188720"/>
            <a:ext cx="9448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4A3B8"/>
                </a:solidFill>
                <a:latin typeface="Plus Jakarta Sans"/>
              </a:defRPr>
            </a:pPr>
            <a:r>
              <a:t>Почему современные полимеры не способны объединить температуру, переработку и себестоимость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3200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JetBrains Mono"/>
              </a:defRPr>
            </a:pPr>
            <a:r>
              <a:t>02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4937760" cy="457200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JetBrains Mono"/>
              </a:defRPr>
            </a:pPr>
            <a:r>
              <a:t>🔺 ТРИЛЕММА УПАКОВОЧНЫХ МАТЕРИАЛОВ</a:t>
            </a:r>
          </a:p>
          <a:p>
            <a:br/>
            <a:pPr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Вершина 1: Термостойкость (&gt;200°C)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Способность удерживать кипящий жир и пар до 6 часов в тепловых витринах Profi без деформации</a:t>
            </a:r>
          </a:p>
          <a:p>
            <a:br/>
            <a:pPr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Вершина 2: Чистая циркулярность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100% RecyClass Grade A: возможность переработки в чистом потоке бутылочного rPET или OK Compost HOME</a:t>
            </a:r>
          </a:p>
          <a:p>
            <a:br/>
            <a:pPr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Вершина 3: Паритет себестоимости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Целевая себестоимость 1:1 со стандартными пластиками без закупки дорогого фасовочного оборудования</a:t>
            </a:r>
          </a:p>
          <a:p>
            <a:br/>
            <a:pPr>
              <a:defRPr sz="1200" b="1">
                <a:solidFill>
                  <a:srgbClr val="34D399"/>
                </a:solidFill>
                <a:latin typeface="Plus Jakarta Sans"/>
              </a:defRPr>
            </a:pPr>
            <a:r>
              <a:t>⚡ Прорыв PackShift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Парето-оптимальная комбинация: нано-кристаллический rPET + природная ионно-сшитая полисахаридная матрица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029200" cy="457200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JetBrains Mono"/>
              </a:defRPr>
            </a:pPr>
            <a:r>
              <a:t>КРАХ ТРАДИЦИОННЫХ АЛЬТЕРНАТИВ</a:t>
            </a:r>
          </a:p>
          <a:p>
            <a:br/>
            <a:pPr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❌ Многослойные ламинаты (PET/Al/PE)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Неразделимый пирог из 3 полимеров и клея. 0% вторичной переработки, распад клея при 85°C в витрине, штраф EPR €800/т.</a:t>
            </a:r>
          </a:p>
          <a:p>
            <a:br/>
            <a:pPr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⚠️ Традиционный алюминий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Держит нагрев, но оставляет огромный углеродный след (11.5 кг CO₂/кг), непрозрачен на витрине и взрывается в бытовых СВЧ.</a:t>
            </a:r>
          </a:p>
          <a:p>
            <a:br/>
            <a:pPr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⚠️ Стандартные биопластики (PLA / PBAT)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Плавятся уже при 55°C–60°C. Полностью неприменимы для горячих витрин гриля (85°C–120°C).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1"/>
          </a:solidFill>
          <a:ln>
            <a:solidFill>
              <a:srgbClr val="0A0E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ПОЛИМЕРНАЯ ИНЖЕНЕРИЯ • НАУЧНОЕ ЯДРО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Plus Jakarta Sans"/>
              </a:defRPr>
            </a:pPr>
            <a:r>
              <a:t>Высококристаллический моно-rPET (CPET Ultra-Flex)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188720"/>
            <a:ext cx="9448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4A3B8"/>
                </a:solidFill>
                <a:latin typeface="Plus Jakarta Sans"/>
              </a:defRPr>
            </a:pPr>
            <a:r>
              <a:t>Управление кинетикой кристаллизации вторичного ПЭТ (χc &gt; 38%) для удержания 250°C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3200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JetBrains Mono"/>
              </a:defRPr>
            </a:pPr>
            <a:r>
              <a:t>03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4937760" cy="457200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JetBrains Mono"/>
              </a:defRPr>
            </a:pPr>
            <a:r>
              <a:t>📊 ТЕРМОМЕХАНИЧЕСКИЙ АНАЛИЗ (DMA)</a:t>
            </a:r>
          </a:p>
          <a:p>
            <a:br/>
            <a:pPr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Температура стеклования (Tg ≈ 70°C)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Обычный аморфный rPET теряет жесткость и модуль упругости при 70°C — упаковка плывет в тепловой витрине Profi.</a:t>
            </a:r>
          </a:p>
          <a:p>
            <a:br/>
            <a:pPr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Термо-плато PackShift (до 255°C)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Нано-кристаллические сферолиты удерживают модуль упругости выше 1 200 МПа вплоть до точки плавления кристаллов Tm.</a:t>
            </a:r>
          </a:p>
          <a:p>
            <a:br/>
            <a:pPr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Стабильность геометрии лотка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Усадка менее 1.2% после 6 часов выдержки при 120°C в термокамере.</a:t>
            </a:r>
          </a:p>
          <a:p>
            <a:br/>
            <a:pPr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100% NIR-детектируемость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Оптические сортировщики распознают полимер как прозрачный чистый PET и отправляют в поток вторичного сырья.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029200" cy="4572000"/>
          </a:xfrm>
          <a:prstGeom prst="roundRect">
            <a:avLst/>
          </a:prstGeom>
          <a:solidFill>
            <a:srgbClr val="12181D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JetBrains Mono"/>
              </a:defRPr>
            </a:pPr>
            <a:r>
              <a:t>ИНЖЕНЕРНАЯ СПЕЦИФИКАЦИЯ МАТЕРИАЛА</a:t>
            </a:r>
          </a:p>
          <a:p>
            <a:br/>
            <a:pPr>
              <a:defRPr sz="1200" b="1">
                <a:solidFill>
                  <a:srgbClr val="34D399"/>
                </a:solidFill>
                <a:latin typeface="Plus Jakarta Sans"/>
              </a:defRPr>
            </a:pPr>
            <a:r>
              <a:t>• Степень кристалличности: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  χc &gt; 38% (индукция органическими нано-нуклеаторами)</a:t>
            </a:r>
          </a:p>
          <a:p>
            <a:br/>
            <a:pPr>
              <a:defRPr sz="1200" b="1">
                <a:solidFill>
                  <a:srgbClr val="34D399"/>
                </a:solidFill>
                <a:latin typeface="Plus Jakarta Sans"/>
              </a:defRPr>
            </a:pPr>
            <a:r>
              <a:t>• Рабочий температурный диапазон: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  от -40°C до +250°C (Dual-Ovenable: морозилка / СВЧ / духовка)</a:t>
            </a:r>
          </a:p>
          <a:p>
            <a:br/>
            <a:pPr>
              <a:defRPr sz="1200" b="1">
                <a:solidFill>
                  <a:srgbClr val="34D399"/>
                </a:solidFill>
                <a:latin typeface="Plus Jakarta Sans"/>
              </a:defRPr>
            </a:pPr>
            <a:r>
              <a:t>• Жиростойкость по TAPPI T559: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  Kit Test 12 / 12 без добавления фторорганики (Zero PFAS)</a:t>
            </a:r>
          </a:p>
          <a:p>
            <a:br/>
            <a:pPr>
              <a:defRPr sz="1200" b="1">
                <a:solidFill>
                  <a:srgbClr val="34D399"/>
                </a:solidFill>
                <a:latin typeface="Plus Jakarta Sans"/>
              </a:defRPr>
            </a:pPr>
            <a:r>
              <a:t>• Чистота вторичного потока: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  99.2% выход при переработке в пищевой rPET гранулят</a:t>
            </a:r>
          </a:p>
          <a:p>
            <a:br/>
            <a:pPr>
              <a:defRPr sz="1200" b="1">
                <a:solidFill>
                  <a:srgbClr val="34D399"/>
                </a:solidFill>
                <a:latin typeface="Plus Jakarta Sans"/>
              </a:defRPr>
            </a:pPr>
            <a:r>
              <a:t>• Скорость термосварки: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  1.1 – 1.3 секунды на типовых матрицах фасовки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1"/>
          </a:solidFill>
          <a:ln>
            <a:solidFill>
              <a:srgbClr val="0A0E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БИОМИМЕТИКА • НАУЧНОЕ ЯДРО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Plus Jakarta Sans"/>
              </a:defRPr>
            </a:pPr>
            <a:r>
              <a:t>Ионно-сшитая матрица LignoShield™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188720"/>
            <a:ext cx="9448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4A3B8"/>
                </a:solidFill>
                <a:latin typeface="Plus Jakarta Sans"/>
              </a:defRPr>
            </a:pPr>
            <a:r>
              <a:t>Паропроницаемый гидрофобный нано-барьер из полисахаридов водорослей и волокон багассы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3200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JetBrains Mono"/>
              </a:defRPr>
            </a:pPr>
            <a:r>
              <a:t>04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4937760" cy="457200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JetBrains Mono"/>
              </a:defRPr>
            </a:pPr>
            <a:r>
              <a:t>🔬 СТРУКТУРА МАТЕРИАЛА В РАЗРЕЗЕ</a:t>
            </a:r>
          </a:p>
          <a:p>
            <a:br/>
            <a:pPr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Слой 1: Нанобарьер (Альгинат + Хитозан)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Комплекс полиэлектролитов со сшивкой Ca²+. Угол смачивания &gt;110°, блокирует кипящий жир без фтора (Kit 12).</a:t>
            </a:r>
          </a:p>
          <a:p>
            <a:br/>
            <a:pPr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Слой 2: Диффузионная паропроницаемая мембрана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Микропористая структура свободно отводит молекулы пара H₂O, предотвращая парниковый эффект и размокание.</a:t>
            </a:r>
          </a:p>
          <a:p>
            <a:br/>
            <a:pPr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Слой 3: Формованная лигноцеллюлоза (Багасса)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Несущий каркас из жмыха сахарного тростника. 100% компостирование в саду за 60 дней (OK Compost HOME).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029200" cy="457200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JetBrains Mono"/>
              </a:defRPr>
            </a:pPr>
            <a:r>
              <a:t>РЕШЕНИЕ ПРОБЛЕМЫ РАЗМОКАНИЯ КОРОЧКИ</a:t>
            </a:r>
          </a:p>
          <a:p>
            <a:br/>
            <a:pPr>
              <a:defRPr sz="1200" b="1">
                <a:solidFill>
                  <a:srgbClr val="34D399"/>
                </a:solidFill>
                <a:latin typeface="Plus Jakarta Sans"/>
              </a:defRPr>
            </a:pPr>
            <a:r>
              <a:t>Проблема герметичных пакетов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Горячая курица-гриль в витрине выделяет влагу. В обычном полиэтилене пар превращается в конденсат, и хрустящая корочка раскисает за 20 минут.</a:t>
            </a:r>
          </a:p>
          <a:p>
            <a:br/>
            <a:pPr>
              <a:defRPr sz="1200" b="1">
                <a:solidFill>
                  <a:srgbClr val="34D399"/>
                </a:solidFill>
                <a:latin typeface="Plus Jakarta Sans"/>
              </a:defRPr>
            </a:pPr>
            <a:r>
              <a:t>Технология Crisp Guard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Селективный градиент мембраны выводит избыточный пар наружу, сохраняя аппетитную хрусткость корочки до 4 часов.</a:t>
            </a:r>
          </a:p>
          <a:p>
            <a:br/>
            <a:pPr>
              <a:defRPr sz="1200" b="1">
                <a:solidFill>
                  <a:srgbClr val="34D399"/>
                </a:solidFill>
                <a:latin typeface="Plus Jakarta Sans"/>
              </a:defRPr>
            </a:pPr>
            <a:r>
              <a:t>Чистый домашний компост</a:t>
            </a:r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Не требует сдачи на промышленный компостинг при 60°C. Полный распад в грунте на безопасный перегной за 2 месяца.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1"/>
          </a:solidFill>
          <a:ln>
            <a:solidFill>
              <a:srgbClr val="0A0E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ЭКСПЕРИМЕНТАЛЬНЫЕ ДАННЫЕ • ВАЛИДАЦИЯ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Plus Jakarta Sans"/>
              </a:defRPr>
            </a:pPr>
            <a:r>
              <a:t>Сравнительные лабораторные бенчмарки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188720"/>
            <a:ext cx="9448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4A3B8"/>
                </a:solidFill>
                <a:latin typeface="Plus Jakarta Sans"/>
              </a:defRPr>
            </a:pPr>
            <a:r>
              <a:t>Прямое физико-химическое и жизненное (LCA) сопоставление с традиционными материалами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3200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JetBrains Mono"/>
              </a:defRPr>
            </a:pPr>
            <a:r>
              <a:t>05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3291840" cy="438912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94A3B8"/>
                </a:solidFill>
                <a:latin typeface="JetBrains Mono"/>
              </a:defRPr>
            </a:pPr>
            <a:r>
              <a:t>ДЕФОРМАЦИЯ ПРИ 120°C (60 МИН)</a:t>
            </a:r>
          </a:p>
          <a:p>
            <a:pPr algn="ctr">
              <a:defRPr sz="2800" b="1">
                <a:solidFill>
                  <a:srgbClr val="34D399"/>
                </a:solidFill>
                <a:latin typeface="JetBrains Mono"/>
              </a:defRPr>
            </a:pPr>
            <a:br/>
            <a:r>
              <a:t>&lt; 1.2%</a:t>
            </a:r>
            <a:br/>
          </a:p>
          <a:p>
            <a:pPr algn="ctr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PackShift CPET</a:t>
            </a:r>
            <a:br/>
          </a:p>
          <a:p>
            <a:pPr algn="ctr"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LDPE плавится на 100% за 10 мин.</a:t>
            </a:r>
            <a:br/>
            <a:r>
              <a:t>PLA биопластик деформируется на 88% за 15 мин.</a:t>
            </a:r>
            <a:br/>
            <a:r>
              <a:t>PackShift держит форму &gt;6 часов.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43984" y="1737360"/>
            <a:ext cx="3291840" cy="438912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201168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94A3B8"/>
                </a:solidFill>
                <a:latin typeface="JetBrains Mono"/>
              </a:defRPr>
            </a:pPr>
            <a:r>
              <a:t>УГЛЕРОДНЫЙ СЛЕД (LCA, КГ CO₂E/КГ)</a:t>
            </a:r>
          </a:p>
          <a:p>
            <a:pPr algn="ctr">
              <a:defRPr sz="2800" b="1">
                <a:solidFill>
                  <a:srgbClr val="34D399"/>
                </a:solidFill>
                <a:latin typeface="JetBrains Mono"/>
              </a:defRPr>
            </a:pPr>
            <a:br/>
            <a:r>
              <a:t>0.82</a:t>
            </a:r>
            <a:br/>
          </a:p>
          <a:p>
            <a:pPr algn="ctr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PackShift rPET</a:t>
            </a:r>
            <a:br/>
          </a:p>
          <a:p>
            <a:pPr algn="ctr"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Первичный алюминий: 11.5 кг CO₂.</a:t>
            </a:r>
            <a:br/>
            <a:r>
              <a:t>Многослойный ламинат: 3.8 кг CO₂.</a:t>
            </a:r>
            <a:br/>
            <a:r>
              <a:t>PackShift LignoShield: всего 0.39 кг (-90%).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8" y="1737360"/>
            <a:ext cx="3291840" cy="438912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0728" y="201168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94A3B8"/>
                </a:solidFill>
                <a:latin typeface="JetBrains Mono"/>
              </a:defRPr>
            </a:pPr>
            <a:r>
              <a:t>ЖИРОСТОЙКОСТЬ (TAPPI KIT TEST)</a:t>
            </a:r>
          </a:p>
          <a:p>
            <a:pPr algn="ctr">
              <a:defRPr sz="2800" b="1">
                <a:solidFill>
                  <a:srgbClr val="34D399"/>
                </a:solidFill>
                <a:latin typeface="JetBrains Mono"/>
              </a:defRPr>
            </a:pPr>
            <a:br/>
            <a:r>
              <a:t>Kit 12 / 12</a:t>
            </a:r>
            <a:br/>
          </a:p>
          <a:p>
            <a:pPr algn="ctr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0% фторорганики (PFAS-Free)</a:t>
            </a:r>
            <a:br/>
          </a:p>
          <a:p>
            <a:pPr algn="ctr"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Стандартная бумага: Kit 3–4 (промокание).</a:t>
            </a:r>
            <a:br/>
            <a:r>
              <a:t>PackShift Biomimetic: Kit 12 без протечек горячего масла 120°C за 8 часов.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1"/>
          </a:solidFill>
          <a:ln>
            <a:solidFill>
              <a:srgbClr val="0A0E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ПРОМЫШЛЕННАЯ СОВМЕСТИМОСТЬ • DROP-IN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Plus Jakarta Sans"/>
              </a:defRPr>
            </a:pPr>
            <a:r>
              <a:t>Интеграция в существующие упаковочные линии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188720"/>
            <a:ext cx="9448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4A3B8"/>
                </a:solidFill>
                <a:latin typeface="Plus Jakarta Sans"/>
              </a:defRPr>
            </a:pPr>
            <a:r>
              <a:t>Масштабирование без закупки нового оборудования и переоснащения фасовочных фабрик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3200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JetBrains Mono"/>
              </a:defRPr>
            </a:pPr>
            <a:r>
              <a:t>06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2377440" cy="164592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4D399"/>
                </a:solidFill>
                <a:latin typeface="JetBrains Mono"/>
              </a:defRPr>
            </a:pPr>
            <a:r>
              <a:t>ШАГ 01</a:t>
            </a:r>
          </a:p>
          <a:p>
            <a:pPr algn="ctr"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Сырьевой поток</a:t>
            </a:r>
          </a:p>
          <a:p>
            <a:pPr algn="ctr">
              <a:defRPr sz="1000">
                <a:solidFill>
                  <a:srgbClr val="94A3B8"/>
                </a:solidFill>
                <a:latin typeface="Plus Jakarta Sans"/>
              </a:defRPr>
            </a:pPr>
            <a:r>
              <a:t>Пищевые rPET-хлопья и жмых багассы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737360"/>
            <a:ext cx="2377440" cy="1645920"/>
          </a:xfrm>
          <a:prstGeom prst="roundRect">
            <a:avLst/>
          </a:prstGeom>
          <a:solidFill>
            <a:srgbClr val="102E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8745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4D399"/>
                </a:solidFill>
                <a:latin typeface="JetBrains Mono"/>
              </a:defRPr>
            </a:pPr>
            <a:r>
              <a:t>ШАГ 02</a:t>
            </a:r>
          </a:p>
          <a:p>
            <a:pPr algn="ctr"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Компаундинг</a:t>
            </a:r>
          </a:p>
          <a:p>
            <a:pPr algn="ctr">
              <a:defRPr sz="1000">
                <a:solidFill>
                  <a:srgbClr val="94A3B8"/>
                </a:solidFill>
                <a:latin typeface="Plus Jakarta Sans"/>
              </a:defRPr>
            </a:pPr>
            <a:r>
              <a:t>Нано-нуклеация и формование рулонов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37360"/>
            <a:ext cx="2377440" cy="164592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4D399"/>
                </a:solidFill>
                <a:latin typeface="JetBrains Mono"/>
              </a:defRPr>
            </a:pPr>
            <a:r>
              <a:t>ШАГ 03</a:t>
            </a:r>
          </a:p>
          <a:p>
            <a:pPr algn="ctr"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Термоформинг</a:t>
            </a:r>
          </a:p>
          <a:p>
            <a:pPr algn="ctr">
              <a:defRPr sz="1000">
                <a:solidFill>
                  <a:srgbClr val="94A3B8"/>
                </a:solidFill>
                <a:latin typeface="Plus Jakarta Sans"/>
              </a:defRPr>
            </a:pPr>
            <a:r>
              <a:t>Линии Multivac, Ulma, Ilpra, Variovac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1737360"/>
            <a:ext cx="2377440" cy="164592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8745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4D399"/>
                </a:solidFill>
                <a:latin typeface="JetBrains Mono"/>
              </a:defRPr>
            </a:pPr>
            <a:r>
              <a:t>ШАГ 04</a:t>
            </a:r>
          </a:p>
          <a:p>
            <a:pPr algn="ctr"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Витрины Profi</a:t>
            </a:r>
          </a:p>
          <a:p>
            <a:pPr algn="ctr">
              <a:defRPr sz="1000">
                <a:solidFill>
                  <a:srgbClr val="94A3B8"/>
                </a:solidFill>
                <a:latin typeface="Plus Jakarta Sans"/>
              </a:defRPr>
            </a:pPr>
            <a:r>
              <a:t>Выкладка в тепловых витринах до 120°C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749039"/>
            <a:ext cx="3291840" cy="246888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931919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D399"/>
                </a:solidFill>
                <a:latin typeface="JetBrains Mono"/>
              </a:defRPr>
            </a:pPr>
            <a:r>
              <a:t>ZERO CAPEX ДЛЯ РИТЕЙЛА</a:t>
            </a:r>
          </a:p>
          <a:p>
            <a:br/>
            <a:pPr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Нулевые инвестиции в оборудование</a:t>
            </a:r>
            <a:br/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Ни сети Profi, ни сторонним фасовочным фабрикам не нужно покупать новые станки за миллионы евро. Пленка заряжается в существующие бобины.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43984" y="3749039"/>
            <a:ext cx="3291840" cy="246888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1144" y="3931919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D399"/>
                </a:solidFill>
                <a:latin typeface="JetBrains Mono"/>
              </a:defRPr>
            </a:pPr>
            <a:r>
              <a:t>ПАРАМЕТРЫ ТЕРМОСВАРКИ</a:t>
            </a:r>
          </a:p>
          <a:p>
            <a:br/>
            <a:pPr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Окно сварки: 145–160°C</a:t>
            </a:r>
            <a:br/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Время цикла запайки составляет 1.1–1.3 сек. Это на 100% соответствует текущим скоростям промышленных фасовочных линий.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73568" y="3749039"/>
            <a:ext cx="3291840" cy="246888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3931919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D399"/>
                </a:solidFill>
                <a:latin typeface="JetBrains Mono"/>
              </a:defRPr>
            </a:pPr>
            <a:r>
              <a:t>СЕРТИФИКАЦИЯ ПИЩЕВОГО КОНТАКТА</a:t>
            </a:r>
          </a:p>
          <a:p>
            <a:br/>
            <a:pPr>
              <a:defRPr sz="1300" b="1">
                <a:solidFill>
                  <a:srgbClr val="FFFFFF"/>
                </a:solidFill>
                <a:latin typeface="Plus Jakarta Sans"/>
              </a:defRPr>
            </a:pPr>
            <a:r>
              <a:t>EFSA &amp; FDA Approved</a:t>
            </a:r>
            <a:br/>
          </a:p>
          <a:p>
            <a:pPr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Полное соблюдение директив EC 1935/2004 и EU 10/2011 по миграции веществ при температурах свыше 100°C.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1"/>
          </a:solidFill>
          <a:ln>
            <a:solidFill>
              <a:srgbClr val="0A0E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ЭКОНОМИКА МАСШТАБА • РЕГУЛЯТОРНАЯ БЕЗОПАСНОСТЬ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Plus Jakarta Sans"/>
              </a:defRPr>
            </a:pPr>
            <a:r>
              <a:t>Unit-экономика и защита ритейлера от рисков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188720"/>
            <a:ext cx="9448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4A3B8"/>
                </a:solidFill>
                <a:latin typeface="Plus Jakarta Sans"/>
              </a:defRPr>
            </a:pPr>
            <a:r>
              <a:t>Финансовая модель окупаемости, страховка от штрафов EU PPWR и снижение списаний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3200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JetBrains Mono"/>
              </a:defRPr>
            </a:pPr>
            <a:r>
              <a:t>07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2377440" cy="201168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34D399"/>
                </a:solidFill>
                <a:latin typeface="JetBrains Mono"/>
              </a:defRPr>
            </a:pPr>
            <a:r>
              <a:t>1 : 1</a:t>
            </a:r>
          </a:p>
          <a:p>
            <a:pPr algn="ctr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Паритет себестоимости</a:t>
            </a:r>
          </a:p>
          <a:p>
            <a:pPr algn="ctr">
              <a:defRPr sz="1000">
                <a:solidFill>
                  <a:srgbClr val="94A3B8"/>
                </a:solidFill>
                <a:latin typeface="Plus Jakarta Sans"/>
              </a:defRPr>
            </a:pPr>
            <a:r>
              <a:t>Выход на паритет с ископаемым пластиком благодаря дешевому rPET сырью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737360"/>
            <a:ext cx="2377440" cy="201168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87452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34D399"/>
                </a:solidFill>
                <a:latin typeface="JetBrains Mono"/>
              </a:defRPr>
            </a:pPr>
            <a:r>
              <a:t>€800 / т</a:t>
            </a:r>
          </a:p>
          <a:p>
            <a:pPr algn="ctr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Защита от налога EPR</a:t>
            </a:r>
          </a:p>
          <a:p>
            <a:pPr algn="ctr">
              <a:defRPr sz="1000">
                <a:solidFill>
                  <a:srgbClr val="94A3B8"/>
                </a:solidFill>
                <a:latin typeface="Plus Jakarta Sans"/>
              </a:defRPr>
            </a:pPr>
            <a:r>
              <a:t>Освобождение от штрафов за неперерабатываемую упаковку (EU Plastic Levy)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37360"/>
            <a:ext cx="2377440" cy="201168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2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34D399"/>
                </a:solidFill>
                <a:latin typeface="JetBrains Mono"/>
              </a:defRPr>
            </a:pPr>
            <a:r>
              <a:t>-30%</a:t>
            </a:r>
          </a:p>
          <a:p>
            <a:pPr algn="ctr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Снижение списаний</a:t>
            </a:r>
          </a:p>
          <a:p>
            <a:pPr algn="ctr">
              <a:defRPr sz="1000">
                <a:solidFill>
                  <a:srgbClr val="94A3B8"/>
                </a:solidFill>
                <a:latin typeface="Plus Jakarta Sans"/>
              </a:defRPr>
            </a:pPr>
            <a:r>
              <a:t>Сохранение органолептики и корочки продлевает товарный вид блюд на 3+ 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1737360"/>
            <a:ext cx="2377440" cy="201168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87452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34D399"/>
                </a:solidFill>
                <a:latin typeface="JetBrains Mono"/>
              </a:defRPr>
            </a:pPr>
            <a:r>
              <a:t>Class A</a:t>
            </a:r>
          </a:p>
          <a:p>
            <a:pPr algn="ctr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RecyClass &amp; PPWR</a:t>
            </a:r>
          </a:p>
          <a:p>
            <a:pPr algn="ctr">
              <a:defRPr sz="1000">
                <a:solidFill>
                  <a:srgbClr val="94A3B8"/>
                </a:solidFill>
                <a:latin typeface="Plus Jakarta Sans"/>
              </a:defRPr>
            </a:pPr>
            <a:r>
              <a:t>Опережение регуляторных директив ЕС на 4 года (PPWR 2030)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14800"/>
            <a:ext cx="10362895" cy="2011680"/>
          </a:xfrm>
          <a:prstGeom prst="roundRect">
            <a:avLst/>
          </a:prstGeom>
          <a:solidFill>
            <a:srgbClr val="102E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297680"/>
            <a:ext cx="9784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JetBrains Mono"/>
              </a:defRPr>
            </a:pPr>
            <a:r>
              <a:t>СОВОКУПНЫЙ ЭФФЕКТ ДЛЯ СЕТИ ИЗ 100 МАГАЗИНОВ PROFI:</a:t>
            </a:r>
          </a:p>
          <a:p>
            <a:br/>
            <a:pPr>
              <a:defRPr sz="1800" b="1">
                <a:solidFill>
                  <a:srgbClr val="FFFFFF"/>
                </a:solidFill>
                <a:latin typeface="Plus Jakarta Sans"/>
              </a:defRPr>
            </a:pPr>
            <a:r>
              <a:t>Экономия свыше €1.98 млн в год на эко-сборах и сохраненной продукции</a:t>
            </a:r>
          </a:p>
          <a:p>
            <a:br/>
            <a:pPr>
              <a:defRPr sz="1200">
                <a:solidFill>
                  <a:srgbClr val="94A3B8"/>
                </a:solidFill>
                <a:latin typeface="JetBrains Mono"/>
              </a:defRPr>
            </a:pPr>
            <a:r>
              <a:t>• -1 840 тонн первичного пластика в год   • -4 250 тонн CO₂e предотвращенных выбросов   • 100% циркулярность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1"/>
          </a:solidFill>
          <a:ln>
            <a:solidFill>
              <a:srgbClr val="0A0E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200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  <a:latin typeface="JetBrains Mono"/>
              </a:defRPr>
            </a:pPr>
            <a:r>
              <a:t>ДОРОЖНАЯ КАРТА • ПАРТНЁРСТВО С PROFI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Plus Jakarta Sans"/>
              </a:defRPr>
            </a:pPr>
            <a:r>
              <a:t>Статус готовности и предложение о сотрудничестве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188720"/>
            <a:ext cx="9448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4A3B8"/>
                </a:solidFill>
                <a:latin typeface="Plus Jakarta Sans"/>
              </a:defRPr>
            </a:pPr>
            <a:r>
              <a:t>От лабораторного подтверждения TRL 4 к запуску пилота в тепловых витринах 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3200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JetBrains Mono"/>
              </a:defRPr>
            </a:pPr>
            <a:r>
              <a:t>08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2377440" cy="1645920"/>
          </a:xfrm>
          <a:prstGeom prst="roundRect">
            <a:avLst/>
          </a:prstGeom>
          <a:solidFill>
            <a:srgbClr val="102E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4D399"/>
                </a:solidFill>
                <a:latin typeface="JetBrains Mono"/>
              </a:defRPr>
            </a:pPr>
            <a:r>
              <a:t>ТЕКУЩИЙ СТАТУС</a:t>
            </a:r>
          </a:p>
          <a:p>
            <a:pPr algn="ctr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TRL 4 (Лаборатория)</a:t>
            </a:r>
          </a:p>
          <a:p>
            <a:pPr algn="ctr">
              <a:defRPr sz="1000">
                <a:solidFill>
                  <a:srgbClr val="94A3B8"/>
                </a:solidFill>
                <a:latin typeface="Plus Jakarta Sans"/>
              </a:defRPr>
            </a:pPr>
            <a:r>
              <a:t>Синтез компаунда подтвержден. 200 образцов готовы к тестам прямо сейчас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737360"/>
            <a:ext cx="2377440" cy="164592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8745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4D399"/>
                </a:solidFill>
                <a:latin typeface="JetBrains Mono"/>
              </a:defRPr>
            </a:pPr>
            <a:r>
              <a:t>НЕДЕЛИ 1–2</a:t>
            </a:r>
          </a:p>
          <a:p>
            <a:pPr algn="ctr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TRL 5 (Тест витрин)</a:t>
            </a:r>
          </a:p>
          <a:p>
            <a:pPr algn="ctr">
              <a:defRPr sz="1000">
                <a:solidFill>
                  <a:srgbClr val="94A3B8"/>
                </a:solidFill>
                <a:latin typeface="Plus Jakarta Sans"/>
              </a:defRPr>
            </a:pPr>
            <a:r>
              <a:t>Испытания в витринах Profi при 85°C–120°C с замером миграции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37360"/>
            <a:ext cx="2377440" cy="164592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4D399"/>
                </a:solidFill>
                <a:latin typeface="JetBrains Mono"/>
              </a:defRPr>
            </a:pPr>
            <a:r>
              <a:t>НЕДЕЛИ 3–5</a:t>
            </a:r>
          </a:p>
          <a:p>
            <a:pPr algn="ctr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TRL 6 (Пилот)</a:t>
            </a:r>
          </a:p>
          <a:p>
            <a:pPr algn="ctr">
              <a:defRPr sz="1000">
                <a:solidFill>
                  <a:srgbClr val="94A3B8"/>
                </a:solidFill>
                <a:latin typeface="Plus Jakarta Sans"/>
              </a:defRPr>
            </a:pPr>
            <a:r>
              <a:t>Пилотная выкладка в 5 флагманских супермаркетах Profi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1737360"/>
            <a:ext cx="2377440" cy="1645920"/>
          </a:xfrm>
          <a:prstGeom prst="roundRect">
            <a:avLst/>
          </a:prstGeom>
          <a:solidFill>
            <a:srgbClr val="12181D"/>
          </a:solidFill>
          <a:ln w="12700">
            <a:solidFill>
              <a:srgbClr val="1E2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8745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4D399"/>
                </a:solidFill>
                <a:latin typeface="JetBrains Mono"/>
              </a:defRPr>
            </a:pPr>
            <a:r>
              <a:t>НЕДЕЛЯ 6+</a:t>
            </a:r>
          </a:p>
          <a:p>
            <a:pPr algn="ctr">
              <a:defRPr sz="1200" b="1">
                <a:solidFill>
                  <a:srgbClr val="FFFFFF"/>
                </a:solidFill>
                <a:latin typeface="Plus Jakarta Sans"/>
              </a:defRPr>
            </a:pPr>
            <a:r>
              <a:t>TRL 7 (Масштаб)</a:t>
            </a:r>
          </a:p>
          <a:p>
            <a:pPr algn="ctr">
              <a:defRPr sz="1000">
                <a:solidFill>
                  <a:srgbClr val="94A3B8"/>
                </a:solidFill>
                <a:latin typeface="Plus Jakarta Sans"/>
              </a:defRPr>
            </a:pPr>
            <a:r>
              <a:t>Подписание контракта на тиражирование по всей сети ритейлера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749039"/>
            <a:ext cx="10362895" cy="2377440"/>
          </a:xfrm>
          <a:prstGeom prst="roundRect">
            <a:avLst/>
          </a:prstGeom>
          <a:solidFill>
            <a:srgbClr val="102E22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4D399"/>
                </a:solidFill>
                <a:latin typeface="JetBrains Mono"/>
              </a:defRPr>
            </a:pPr>
            <a:r>
              <a:t>НАШ ЗАПРОС К ЖЮРИ И СЕТИ PROFI (THE ASK):</a:t>
            </a:r>
          </a:p>
          <a:p>
            <a:pPr algn="ctr">
              <a:defRPr sz="1800" b="1">
                <a:solidFill>
                  <a:srgbClr val="FFFFFF"/>
                </a:solidFill>
                <a:latin typeface="Plus Jakarta Sans"/>
              </a:defRPr>
            </a:pPr>
            <a:br/>
            <a:r>
              <a:t>Проведение 2-недельного натурного тестирования готовой партии из 200 образцов в реальных тепловых витринах Profi</a:t>
            </a:r>
          </a:p>
          <a:p>
            <a:pPr algn="ctr">
              <a:defRPr sz="1200">
                <a:solidFill>
                  <a:srgbClr val="94A3B8"/>
                </a:solidFill>
                <a:latin typeface="Plus Jakarta Sans"/>
              </a:defRPr>
            </a:pPr>
            <a:br/>
            <a:r>
              <a:t>Мы предоставляем готовую упаковку и научную команду. Сеть Profi предоставляет доступ к витринам для валидации органолептики и термостойкости. Давайте создадим первую в Европе 100% циркулярную витрину горячей кулинарии вместе!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