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solidFill>
              <a:srgbClr val="0F1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822960"/>
            <a:ext cx="5669280" cy="411480"/>
          </a:xfrm>
          <a:prstGeom prst="roundRect">
            <a:avLst/>
          </a:prstGeom>
          <a:solidFill>
            <a:srgbClr val="122E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⚡ DEEPTECH GIGAHACK 2026 • BIOMENTORHUB × PROFI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34D399"/>
                </a:solidFill>
                <a:latin typeface="Plus Jakarta Sans"/>
              </a:defRPr>
            </a:pPr>
            <a:r>
              <a:t>PackShift</a:t>
            </a:r>
          </a:p>
          <a:p>
            <a:pPr>
              <a:defRPr sz="2800" b="1">
                <a:solidFill>
                  <a:srgbClr val="FFFFFF"/>
                </a:solidFill>
                <a:latin typeface="Plus Jakarta Sans"/>
              </a:defRPr>
            </a:pPr>
            <a:r>
              <a:t>Циркулярная эко-упаковка для пищевого ритейла</a:t>
            </a:r>
          </a:p>
          <a:p>
            <a:pPr>
              <a:defRPr sz="1300">
                <a:solidFill>
                  <a:srgbClr val="10B981"/>
                </a:solidFill>
                <a:latin typeface="JetBrains Mono"/>
              </a:defRPr>
            </a:pPr>
            <a:r>
              <a:t>0% первичного пластика • Термостойкость 250°C • Zero PFAS • EU PPWR 2030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241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Plus Jakarta Sans"/>
              </a:defRPr>
            </a:pPr>
            <a:r>
              <a:t>Инженерная система замещения первичного пластика на базе модифицированных моно-материалов rPET и биомиметических растительных барьеров. Разработано под операционные стандарты сети супермаркетов Profi.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480560"/>
            <a:ext cx="2468880" cy="164592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6177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-88%</a:t>
            </a:r>
          </a:p>
          <a:p>
            <a:pPr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Первичный пластик</a:t>
            </a:r>
          </a:p>
          <a:p>
            <a:pPr>
              <a:defRPr sz="1050">
                <a:solidFill>
                  <a:srgbClr val="94A3B8"/>
                </a:solidFill>
                <a:latin typeface="Plus Jakarta Sans"/>
              </a:defRPr>
            </a:pPr>
            <a:r>
              <a:t>Замена на rPET и растительное сырье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1296" y="4480560"/>
            <a:ext cx="2468880" cy="1645920"/>
          </a:xfrm>
          <a:prstGeom prst="roundRect">
            <a:avLst/>
          </a:prstGeom>
          <a:solidFill>
            <a:srgbClr val="1820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6" y="46177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250°C</a:t>
            </a:r>
          </a:p>
          <a:p>
            <a:pPr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Вызов гриля (Annex)</a:t>
            </a:r>
          </a:p>
          <a:p>
            <a:pPr>
              <a:defRPr sz="1050">
                <a:solidFill>
                  <a:srgbClr val="94A3B8"/>
                </a:solidFill>
                <a:latin typeface="Plus Jakarta Sans"/>
              </a:defRPr>
            </a:pPr>
            <a:r>
              <a:t>6ч в тепловой витрине без размягчения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4480560"/>
            <a:ext cx="2468880" cy="164592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46177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+4 дня</a:t>
            </a:r>
          </a:p>
          <a:p>
            <a:pPr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Срок годности</a:t>
            </a:r>
          </a:p>
          <a:p>
            <a:pPr>
              <a:defRPr sz="1050">
                <a:solidFill>
                  <a:srgbClr val="94A3B8"/>
                </a:solidFill>
                <a:latin typeface="Plus Jakarta Sans"/>
              </a:defRPr>
            </a:pPr>
            <a:r>
              <a:t>Лазерная микроперфорация EMAP (-32% списаний)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87968" y="4480560"/>
            <a:ext cx="2468880" cy="164592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6177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Class A</a:t>
            </a:r>
          </a:p>
          <a:p>
            <a:pPr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RecyClass &amp; PPWR</a:t>
            </a:r>
          </a:p>
          <a:p>
            <a:pPr>
              <a:defRPr sz="1050">
                <a:solidFill>
                  <a:srgbClr val="94A3B8"/>
                </a:solidFill>
                <a:latin typeface="Plus Jakarta Sans"/>
              </a:defRPr>
            </a:pPr>
            <a:r>
              <a:t>100% моно-материалы в сортировочные потоки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solidFill>
              <a:srgbClr val="0F1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КОНТЕКСТ И ВЫЗОВ • GIGAHACK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Plus Jakarta Sans"/>
              </a:defRPr>
            </a:pPr>
            <a:r>
              <a:t>Регуляторный капкан ритейла и острая боль витрин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JetBrains Mono"/>
              </a:defRPr>
            </a:pPr>
            <a:r>
              <a:t>02 /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45775" cy="18288"/>
          </a:xfrm>
          <a:prstGeom prst="rect">
            <a:avLst/>
          </a:prstGeom>
          <a:solidFill>
            <a:srgbClr val="24323B"/>
          </a:solidFill>
          <a:ln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120640" cy="457200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  <a:latin typeface="Plus Jakarta Sans"/>
              </a:defRPr>
            </a:pPr>
            <a:r>
              <a:t>⚖️ 1. Регуляторное давление и налоги</a:t>
            </a:r>
          </a:p>
          <a:p>
            <a:pPr>
              <a:defRPr b="1" sz="1150">
                <a:solidFill>
                  <a:srgbClr val="FFFFFF"/>
                </a:solidFill>
              </a:defRPr>
            </a:pPr>
            <a:r>
              <a:t>• Директива EU PPWR 2030: </a:t>
            </a:r>
            <a:r>
              <a:rPr b="0">
                <a:solidFill>
                  <a:srgbClr val="94A3B8"/>
                </a:solidFill>
              </a:rPr>
              <a:t>Запрет многослойных неперерабатываемых полимеров. Штрафы ритейлерам за превышение квот первичного пластика.</a:t>
            </a:r>
          </a:p>
          <a:p>
            <a:pPr>
              <a:defRPr b="1" sz="1150">
                <a:solidFill>
                  <a:srgbClr val="FFFFFF"/>
                </a:solidFill>
              </a:defRPr>
            </a:pPr>
            <a:r>
              <a:t>• Экологический сбор (EPR): </a:t>
            </a:r>
            <a:r>
              <a:rPr b="0">
                <a:solidFill>
                  <a:srgbClr val="94A3B8"/>
                </a:solidFill>
              </a:rPr>
              <a:t>Ставка налога на комбинированные ламинаты (ПЭ+алюминий) выросла на 45%. Неперерабатываемая упаковка становится прямым убытком.</a:t>
            </a:r>
          </a:p>
          <a:p>
            <a:pPr>
              <a:defRPr b="1" sz="1150">
                <a:solidFill>
                  <a:srgbClr val="FFFFFF"/>
                </a:solidFill>
              </a:defRPr>
            </a:pPr>
            <a:r>
              <a:t>• Тотальный бан на PFAS: </a:t>
            </a:r>
            <a:r>
              <a:rPr b="0">
                <a:solidFill>
                  <a:srgbClr val="94A3B8"/>
                </a:solidFill>
              </a:rPr>
              <a:t>Европейский запрет пер- и полифторалкильных гидрофобизаторов в прямом пищевом контакте.</a:t>
            </a:r>
          </a:p>
          <a:p>
            <a:pPr>
              <a:defRPr b="1" sz="1150">
                <a:solidFill>
                  <a:srgbClr val="FFFFFF"/>
                </a:solidFill>
              </a:defRPr>
            </a:pPr>
            <a:r>
              <a:t>• Аудит Scope 3 (CSRD): </a:t>
            </a:r>
            <a:r>
              <a:rPr b="0">
                <a:solidFill>
                  <a:srgbClr val="94A3B8"/>
                </a:solidFill>
              </a:rPr>
              <a:t>Сеть Profi обязана публично сокращать углеродный след упаковки по всей цепочке.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820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  <a:latin typeface="Plus Jakarta Sans"/>
              </a:defRPr>
            </a:pPr>
            <a:r>
              <a:t>🔥 2. Острая боль: Отдел гриля и кулинарии</a:t>
            </a:r>
          </a:p>
          <a:p>
            <a:pPr>
              <a:defRPr b="1" sz="1150">
                <a:solidFill>
                  <a:srgbClr val="FFFFFF"/>
                </a:solidFill>
              </a:defRPr>
            </a:pPr>
            <a:r>
              <a:t>• Экстремальный режим: </a:t>
            </a:r>
            <a:r>
              <a:rPr b="0">
                <a:solidFill>
                  <a:srgbClr val="94A3B8"/>
                </a:solidFill>
              </a:rPr>
              <a:t>Выдержка в витрине при 85°C – 120°C до 6 часов. Пиковые температуры фасовки достигают 180°C – 250°C.</a:t>
            </a:r>
          </a:p>
          <a:p>
            <a:pPr>
              <a:defRPr b="1" sz="1150">
                <a:solidFill>
                  <a:srgbClr val="FFFFFF"/>
                </a:solidFill>
              </a:defRPr>
            </a:pPr>
            <a:r>
              <a:t>• Дефекты текущих пакетов: </a:t>
            </a:r>
            <a:r>
              <a:rPr b="0">
                <a:solidFill>
                  <a:srgbClr val="94A3B8"/>
                </a:solidFill>
              </a:rPr>
              <a:t>Полиэтилен с фольгой плавится, дает течь жира и выделяет резкий запах нагретого пластика.</a:t>
            </a:r>
          </a:p>
          <a:p>
            <a:pPr>
              <a:defRPr b="1" sz="1150">
                <a:solidFill>
                  <a:srgbClr val="FFFFFF"/>
                </a:solidFill>
              </a:defRPr>
            </a:pPr>
            <a:r>
              <a:t>• «Парниковый эффект»: </a:t>
            </a:r>
            <a:r>
              <a:rPr b="0">
                <a:solidFill>
                  <a:srgbClr val="94A3B8"/>
                </a:solidFill>
              </a:rPr>
              <a:t>Пар блокируется, аппетитная корочка гриля размокает в кашу за 40 минут — потеря лояльности покупателей.</a:t>
            </a:r>
          </a:p>
          <a:p>
            <a:pPr>
              <a:defRPr b="1" sz="1150">
                <a:solidFill>
                  <a:srgbClr val="FFFFFF"/>
                </a:solidFill>
              </a:defRPr>
            </a:pPr>
            <a:r>
              <a:t>• Скрытые токсины: </a:t>
            </a:r>
            <a:r>
              <a:rPr b="0">
                <a:solidFill>
                  <a:srgbClr val="94A3B8"/>
                </a:solidFill>
              </a:rPr>
              <a:t>Жиростойкость текущих пакетов держится на PFAS, мигрирующих в горячую пищу.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solidFill>
              <a:srgbClr val="0F1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СПЕЦИАЛЬНЫЙ ВЫЗОВ • GIGAHACK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Plus Jakarta Sans"/>
              </a:defRPr>
            </a:pPr>
            <a:r>
              <a:t>Инженерные решения для Горячего Гриля (180°C – 250°C)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JetBrains Mono"/>
              </a:defRPr>
            </a:pPr>
            <a:r>
              <a:t>03 /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45775" cy="18288"/>
          </a:xfrm>
          <a:prstGeom prst="rect">
            <a:avLst/>
          </a:prstGeom>
          <a:solidFill>
            <a:srgbClr val="24323B"/>
          </a:solidFill>
          <a:ln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120640" cy="4572000"/>
          </a:xfrm>
          <a:prstGeom prst="roundRect">
            <a:avLst/>
          </a:prstGeom>
          <a:solidFill>
            <a:srgbClr val="1820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РЕШЕНИЕ А: МОНО-ПАКЕТ</a:t>
            </a:r>
          </a:p>
          <a:p>
            <a:pPr>
              <a:defRPr sz="2100" b="1">
                <a:solidFill>
                  <a:srgbClr val="FFFFFF"/>
                </a:solidFill>
                <a:latin typeface="Plus Jakarta Sans"/>
              </a:defRPr>
            </a:pPr>
            <a:r>
              <a:t>PackShift CPET Ultra-Flex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Материал: </a:t>
            </a:r>
            <a:r>
              <a:rPr b="0">
                <a:solidFill>
                  <a:srgbClr val="94A3B8"/>
                </a:solidFill>
              </a:rPr>
              <a:t>Кристаллический модифицированный rPET (степень кристалличности &gt; 38%).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Термостойкость: </a:t>
            </a:r>
            <a:r>
              <a:rPr b="0">
                <a:solidFill>
                  <a:srgbClr val="94A3B8"/>
                </a:solidFill>
              </a:rPr>
              <a:t>от -40°C до +250°C (Dual-Ovenable: разогрев прямо в упаковке).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Тепловая витрина: </a:t>
            </a:r>
            <a:r>
              <a:rPr b="0">
                <a:solidFill>
                  <a:srgbClr val="94A3B8"/>
                </a:solidFill>
              </a:rPr>
              <a:t>6+ часов при 95°C–120°C без усадки, протечек и запаха.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Жиростойкость: </a:t>
            </a:r>
            <a:r>
              <a:rPr b="0">
                <a:solidFill>
                  <a:srgbClr val="94A3B8"/>
                </a:solidFill>
              </a:rPr>
              <a:t>Высший класс Kit Test 12. 100% PFAS-Free.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Рециклинг: </a:t>
            </a:r>
            <a:r>
              <a:rPr b="0">
                <a:solidFill>
                  <a:srgbClr val="94A3B8"/>
                </a:solidFill>
              </a:rPr>
              <a:t>100% моно-материал. Поток ПЭТ-бутылок (RecyClass Class A).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Себестоимость: </a:t>
            </a:r>
            <a:r>
              <a:rPr b="0">
                <a:solidFill>
                  <a:srgbClr val="94A3B8"/>
                </a:solidFill>
              </a:rPr>
              <a:t>-14% vs импортный барьерный ламинат с алюминием.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РЕШЕНИЕ Б: БИО-КОМПОЗИТ (PROFI BIO)</a:t>
            </a:r>
          </a:p>
          <a:p>
            <a:pPr>
              <a:defRPr sz="2100" b="1">
                <a:solidFill>
                  <a:srgbClr val="FFFFFF"/>
                </a:solidFill>
                <a:latin typeface="Plus Jakarta Sans"/>
              </a:defRPr>
            </a:pPr>
            <a:r>
              <a:t>LignoShield™ ThermoBox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Материал: </a:t>
            </a:r>
            <a:r>
              <a:rPr b="0">
                <a:solidFill>
                  <a:srgbClr val="94A3B8"/>
                </a:solidFill>
              </a:rPr>
              <a:t>100% формованная багасса сахарного тростника + альгинат/хитозан из водорослей.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Дышащая мембрана: </a:t>
            </a:r>
            <a:r>
              <a:rPr b="0">
                <a:solidFill>
                  <a:srgbClr val="94A3B8"/>
                </a:solidFill>
              </a:rPr>
              <a:t>Микропористая структура стравливает пар. Корочка гриля остается хрустящей.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Эко-жиробарьер: </a:t>
            </a:r>
            <a:r>
              <a:rPr b="0">
                <a:solidFill>
                  <a:srgbClr val="94A3B8"/>
                </a:solidFill>
              </a:rPr>
              <a:t>Водный нано-слой. 0% пластика, 0% фтора, 0% полиэтилена.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Термостойкость: </a:t>
            </a:r>
            <a:r>
              <a:rPr b="0">
                <a:solidFill>
                  <a:srgbClr val="94A3B8"/>
                </a:solidFill>
              </a:rPr>
              <a:t>До +220°C кратковременно, 6 часов в тепловой витрине.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Утилизация: </a:t>
            </a:r>
            <a:r>
              <a:rPr b="0">
                <a:solidFill>
                  <a:srgbClr val="94A3B8"/>
                </a:solidFill>
              </a:rPr>
              <a:t>Домашний компост за 60 дней (OK Compost HOME) или макулатура.</a:t>
            </a:r>
          </a:p>
          <a:p>
            <a:pPr>
              <a:defRPr b="1" sz="1150">
                <a:solidFill>
                  <a:srgbClr val="34D399"/>
                </a:solidFill>
              </a:defRPr>
            </a:pPr>
            <a:r>
              <a:t>Позиционирование: </a:t>
            </a:r>
            <a:r>
              <a:rPr b="0">
                <a:solidFill>
                  <a:srgbClr val="94A3B8"/>
                </a:solidFill>
              </a:rPr>
              <a:t>Премиальная эко-линейка готовой кулинарии сети Profi.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solidFill>
              <a:srgbClr val="0F1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МАСШТАБИРОВАНИЕ • GIGAHACK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Plus Jakarta Sans"/>
              </a:defRPr>
            </a:pPr>
            <a:r>
              <a:t>Комплексная оптимизация отделов супермаркета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JetBrains Mono"/>
              </a:defRPr>
            </a:pPr>
            <a:r>
              <a:t>04 /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45775" cy="18288"/>
          </a:xfrm>
          <a:prstGeom prst="rect">
            <a:avLst/>
          </a:prstGeom>
          <a:solidFill>
            <a:srgbClr val="24323B"/>
          </a:solidFill>
          <a:ln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328416" cy="457200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10512"/>
            <a:ext cx="2999232" cy="424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🥬 СВЕЖИЕ ОВОЩИ И ЗЕЛЕНЬ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EMAP Laser-Breathe™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Проблема: </a:t>
            </a:r>
            <a:r>
              <a:rPr b="0">
                <a:solidFill>
                  <a:srgbClr val="94A3B8"/>
                </a:solidFill>
              </a:rPr>
              <a:t>Конденсат, плесень, 28-35% списаний зелени и ягод.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Инновация: </a:t>
            </a:r>
            <a:r>
              <a:rPr b="0">
                <a:solidFill>
                  <a:srgbClr val="94A3B8"/>
                </a:solidFill>
              </a:rPr>
              <a:t>Моно-пленка rBOPP с лазерной микроперфорацией. Баланс O₂ (3-5%) и CO₂ (5-8%).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Эффект: </a:t>
            </a:r>
            <a:r>
              <a:rPr b="0">
                <a:solidFill>
                  <a:srgbClr val="94A3B8"/>
                </a:solidFill>
              </a:rPr>
              <a:t>+4 дня к сроку годности на полке.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Списания: </a:t>
            </a:r>
            <a:r>
              <a:rPr b="0">
                <a:solidFill>
                  <a:srgbClr val="94A3B8"/>
                </a:solidFill>
              </a:rPr>
              <a:t>Сокращение списаний в супермаркетах на 32%.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Материал: </a:t>
            </a:r>
            <a:r>
              <a:rPr b="0">
                <a:solidFill>
                  <a:srgbClr val="94A3B8"/>
                </a:solidFill>
              </a:rPr>
              <a:t>Моно-rBOPP • 100% Recyclable.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45920"/>
            <a:ext cx="3328416" cy="457200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810512"/>
            <a:ext cx="2999232" cy="424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🥩 МЯСНОЙ И РЫБНЫЙ ОТДЕЛ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Capillary Tray (Pad-Less)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Проблема: </a:t>
            </a:r>
            <a:r>
              <a:rPr b="0">
                <a:solidFill>
                  <a:srgbClr val="94A3B8"/>
                </a:solidFill>
              </a:rPr>
              <a:t>Грязная синтетическая салфетка исключает лоток из рециклинга.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Инновация: </a:t>
            </a:r>
            <a:r>
              <a:rPr b="0">
                <a:solidFill>
                  <a:srgbClr val="94A3B8"/>
                </a:solidFill>
              </a:rPr>
              <a:t>Глубокоформованный моно-rPET лоток с капиллярным гидро-замком на 45 мл экссудата.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Эффект: </a:t>
            </a:r>
            <a:r>
              <a:rPr b="0">
                <a:solidFill>
                  <a:srgbClr val="94A3B8"/>
                </a:solidFill>
              </a:rPr>
              <a:t>0 синтетических салфеток-вкладышей.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Сортировка: </a:t>
            </a:r>
            <a:r>
              <a:rPr b="0">
                <a:solidFill>
                  <a:srgbClr val="94A3B8"/>
                </a:solidFill>
              </a:rPr>
              <a:t>100% чистый поток вторичной переработки.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Материал: </a:t>
            </a:r>
            <a:r>
              <a:rPr b="0">
                <a:solidFill>
                  <a:srgbClr val="94A3B8"/>
                </a:solidFill>
              </a:rPr>
              <a:t>85% rPET • RecyClass Class 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645920"/>
            <a:ext cx="3328416" cy="457200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4" y="1810512"/>
            <a:ext cx="2999232" cy="4242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🥐 ПЕКАРНЯ И ВЫПЕЧКА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NatureVent Crisp™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Проблема: </a:t>
            </a:r>
            <a:r>
              <a:rPr b="0">
                <a:solidFill>
                  <a:srgbClr val="94A3B8"/>
                </a:solidFill>
              </a:rPr>
              <a:t>Пакеты со смотровыми окнами из полиэтилена сжигаются.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Инновация: </a:t>
            </a:r>
            <a:r>
              <a:rPr b="0">
                <a:solidFill>
                  <a:srgbClr val="94A3B8"/>
                </a:solidFill>
              </a:rPr>
              <a:t>Крафт FSC + прозрачное био-окно NatureFlex™ из древесной массы + водный био-воск.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Эффект: </a:t>
            </a:r>
            <a:r>
              <a:rPr b="0">
                <a:solidFill>
                  <a:srgbClr val="94A3B8"/>
                </a:solidFill>
              </a:rPr>
              <a:t>Сохранение хрустящей корочки круассанов.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Утилизация: </a:t>
            </a:r>
            <a:r>
              <a:rPr b="0">
                <a:solidFill>
                  <a:srgbClr val="94A3B8"/>
                </a:solidFill>
              </a:rPr>
              <a:t>100% Pulpable (переработка вместе с бумагой).</a:t>
            </a:r>
          </a:p>
          <a:p>
            <a:pPr>
              <a:defRPr b="1" sz="1100">
                <a:solidFill>
                  <a:srgbClr val="34D399"/>
                </a:solidFill>
              </a:defRPr>
            </a:pPr>
            <a:r>
              <a:t>• Материал: </a:t>
            </a:r>
            <a:r>
              <a:rPr b="0">
                <a:solidFill>
                  <a:srgbClr val="94A3B8"/>
                </a:solidFill>
              </a:rPr>
              <a:t>Крафт FSC + целлюлоза • 0% ПЭ.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solidFill>
              <a:srgbClr val="0F1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БИЗНЕС-МОДЕЛЬ • GIGAHACK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Plus Jakarta Sans"/>
              </a:defRPr>
            </a:pPr>
            <a:r>
              <a:t>Экономика и ESG-эффект: Расчет на 100 супермаркетов Profi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JetBrains Mono"/>
              </a:defRPr>
            </a:pPr>
            <a:r>
              <a:t>05 /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45775" cy="18288"/>
          </a:xfrm>
          <a:prstGeom prst="rect">
            <a:avLst/>
          </a:prstGeom>
          <a:solidFill>
            <a:srgbClr val="24323B"/>
          </a:solidFill>
          <a:ln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2468880" cy="292608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194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1 840 т</a:t>
            </a:r>
          </a:p>
          <a:p>
            <a:pPr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Первичный пластик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Тонн первичных полимеров предотвращено в год благодаря rPET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1296" y="1645920"/>
            <a:ext cx="2468880" cy="292608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28800"/>
            <a:ext cx="2194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4 250 т</a:t>
            </a:r>
          </a:p>
          <a:p>
            <a:pPr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Сокращение CO₂e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Предотвращено выбросов парниковых газов (Scope 3 Profi)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45920"/>
            <a:ext cx="2468880" cy="2926080"/>
          </a:xfrm>
          <a:prstGeom prst="roundRect">
            <a:avLst/>
          </a:prstGeom>
          <a:solidFill>
            <a:srgbClr val="1820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828800"/>
            <a:ext cx="2194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€1 280 000</a:t>
            </a:r>
          </a:p>
          <a:p>
            <a:pPr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Экономия на EPR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Прямая годовая экономия на налоге за счет моно-материалов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87968" y="1645920"/>
            <a:ext cx="2468880" cy="292608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1828800"/>
            <a:ext cx="2194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€700 000</a:t>
            </a:r>
          </a:p>
          <a:p>
            <a:pPr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Снижение списаний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Сбережение продукции за счет продления свежести (+4 дня)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846320"/>
            <a:ext cx="10545775" cy="1371600"/>
          </a:xfrm>
          <a:prstGeom prst="roundRect">
            <a:avLst/>
          </a:prstGeom>
          <a:solidFill>
            <a:srgbClr val="122E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34D399"/>
                </a:solidFill>
                <a:latin typeface="Plus Jakarta Sans"/>
              </a:defRPr>
            </a:pPr>
            <a:r>
              <a:t>💡 Нулевой CapEx для ритейлера (Drop-In Compatibility):</a:t>
            </a:r>
          </a:p>
          <a:p>
            <a:pPr>
              <a:defRPr sz="1200">
                <a:solidFill>
                  <a:srgbClr val="FFFFFF"/>
                </a:solidFill>
                <a:latin typeface="Plus Jakarta Sans"/>
              </a:defRPr>
            </a:pPr>
            <a:r>
              <a:t>Упаковка PackShift полностью адаптирована под стандартные запайщики лотков, фасовочные линии и тепловые витрины супермаркетов Profi. Закупка нового оборудования не требуется. Себестоимость моно-пакетов CPET на 14% ниже импортных многослойных фольгированных ламинатов.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solidFill>
              <a:srgbClr val="0F1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СТАНДАРТЫ И СЕРТИФИКАЦИЯ • GIGAHACK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Plus Jakarta Sans"/>
              </a:defRPr>
            </a:pPr>
            <a:r>
              <a:t>Регуляторный щит и соответствие нормативам ЕС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JetBrains Mono"/>
              </a:defRPr>
            </a:pPr>
            <a:r>
              <a:t>06 /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45775" cy="18288"/>
          </a:xfrm>
          <a:prstGeom prst="rect">
            <a:avLst/>
          </a:prstGeom>
          <a:solidFill>
            <a:srgbClr val="24323B"/>
          </a:solidFill>
          <a:ln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2468880" cy="457200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28800"/>
            <a:ext cx="21396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RECYCLASS</a:t>
            </a:r>
          </a:p>
          <a:p>
            <a:pPr>
              <a:defRPr sz="1700" b="1">
                <a:solidFill>
                  <a:srgbClr val="FFFFFF"/>
                </a:solidFill>
                <a:latin typeface="Plus Jakarta Sans"/>
              </a:defRPr>
            </a:pPr>
            <a:r>
              <a:t>Grade A Recyclability</a:t>
            </a:r>
          </a:p>
          <a:p>
            <a:pPr>
              <a:defRPr sz="1200">
                <a:solidFill>
                  <a:srgbClr val="94A3B8"/>
                </a:solidFill>
                <a:latin typeface="Plus Jakarta Sans"/>
              </a:defRPr>
            </a:pPr>
            <a:r>
              <a:t>Подтвержденная совместимость с оптической сортировкой (NIR) и механическим рециклингом в ЕС.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1296" y="1645920"/>
            <a:ext cx="2468880" cy="457200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1828800"/>
            <a:ext cx="21396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EU PPWR</a:t>
            </a:r>
          </a:p>
          <a:p>
            <a:pPr>
              <a:defRPr sz="1700" b="1">
                <a:solidFill>
                  <a:srgbClr val="FFFFFF"/>
                </a:solidFill>
                <a:latin typeface="Plus Jakarta Sans"/>
              </a:defRPr>
            </a:pPr>
            <a:r>
              <a:t>PPWR 2030 Ready</a:t>
            </a:r>
          </a:p>
          <a:p>
            <a:pPr>
              <a:defRPr sz="1200">
                <a:solidFill>
                  <a:srgbClr val="94A3B8"/>
                </a:solidFill>
                <a:latin typeface="Plus Jakarta Sans"/>
              </a:defRPr>
            </a:pPr>
            <a:r>
              <a:t>Упреждение европейских норм: &gt;35% пищевого rPET, 0% первичного пластика в фасовочных пакетах.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45920"/>
            <a:ext cx="2468880" cy="457200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828800"/>
            <a:ext cx="21396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ZERO TOXIC</a:t>
            </a:r>
          </a:p>
          <a:p>
            <a:pPr>
              <a:defRPr sz="1700" b="1">
                <a:solidFill>
                  <a:srgbClr val="FFFFFF"/>
                </a:solidFill>
                <a:latin typeface="Plus Jakarta Sans"/>
              </a:defRPr>
            </a:pPr>
            <a:r>
              <a:t>100% PFAS-Free</a:t>
            </a:r>
          </a:p>
          <a:p>
            <a:pPr>
              <a:defRPr sz="1200">
                <a:solidFill>
                  <a:srgbClr val="94A3B8"/>
                </a:solidFill>
                <a:latin typeface="Plus Jakarta Sans"/>
              </a:defRPr>
            </a:pPr>
            <a:r>
              <a:t>Сертификация отсутствия пер- и полифторалкильных веществ в контакте с горячим маслом до 250°C.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87968" y="1645920"/>
            <a:ext cx="2468880" cy="457200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828800"/>
            <a:ext cx="21396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FOOD SAFE</a:t>
            </a:r>
          </a:p>
          <a:p>
            <a:pPr>
              <a:defRPr sz="1700" b="1">
                <a:solidFill>
                  <a:srgbClr val="FFFFFF"/>
                </a:solidFill>
                <a:latin typeface="Plus Jakarta Sans"/>
              </a:defRPr>
            </a:pPr>
            <a:r>
              <a:t>EFSA / FDA Approved</a:t>
            </a:r>
          </a:p>
          <a:p>
            <a:pPr>
              <a:defRPr sz="1200">
                <a:solidFill>
                  <a:srgbClr val="94A3B8"/>
                </a:solidFill>
                <a:latin typeface="Plus Jakarta Sans"/>
              </a:defRPr>
            </a:pPr>
            <a:r>
              <a:t>Соответствие Regulation EU No 10/2011 для прямого контакта с горячими и жирными продуктами.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solidFill>
              <a:srgbClr val="0F1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ДОРОЖНАЯ КАРТА • GIGAHACK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Plus Jakarta Sans"/>
              </a:defRPr>
            </a:pPr>
            <a:r>
              <a:t>План пилотного запуска в Profi: 6 недель до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JetBrains Mono"/>
              </a:defRPr>
            </a:pPr>
            <a:r>
              <a:t>07 /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45775" cy="18288"/>
          </a:xfrm>
          <a:prstGeom prst="rect">
            <a:avLst/>
          </a:prstGeom>
          <a:solidFill>
            <a:srgbClr val="24323B"/>
          </a:solidFill>
          <a:ln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328416" cy="3291840"/>
          </a:xfrm>
          <a:prstGeom prst="roundRect">
            <a:avLst/>
          </a:prstGeom>
          <a:solidFill>
            <a:srgbClr val="1820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10512"/>
            <a:ext cx="2999232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ЭТАП 1 • 2 недели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Лабораторный тест</a:t>
            </a:r>
          </a:p>
          <a:p>
            <a:pPr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• Тестирование пакетов CPET и термобоксов на витринах гриля Profi при 95°C–120°C.</a:t>
            </a:r>
          </a:p>
          <a:p>
            <a:pPr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• Проверка герметичности, жиростойкости (Kit 12) и отсутствия посторонних запахов.</a:t>
            </a:r>
          </a:p>
          <a:p>
            <a:pPr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• Протокол миграции EFSA для контакта с горячим куриным жиром.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45920"/>
            <a:ext cx="3328416" cy="329184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810512"/>
            <a:ext cx="2999232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ЭТАП 2 • 4 недели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Пилот в 5 магазинах</a:t>
            </a:r>
          </a:p>
          <a:p>
            <a:pPr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• Запуск в 5 флагманских супермаркетах Profi в отделах Гриль и Овощи.</a:t>
            </a:r>
          </a:p>
          <a:p>
            <a:pPr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• Сбор обратной связи от поваров кулинарии и покупателей.</a:t>
            </a:r>
          </a:p>
          <a:p>
            <a:pPr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• Замер динамики списаний и сохранности хрустящей корочки гриля.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645920"/>
            <a:ext cx="3328416" cy="3291840"/>
          </a:xfrm>
          <a:prstGeom prst="roundRect">
            <a:avLst/>
          </a:prstGeom>
          <a:solidFill>
            <a:srgbClr val="182026"/>
          </a:solidFill>
          <a:ln w="12700">
            <a:solidFill>
              <a:srgbClr val="243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4" y="1810512"/>
            <a:ext cx="2999232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ЭТАП 3 • Квартал 2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Масштабирование</a:t>
            </a:r>
          </a:p>
          <a:p>
            <a:pPr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• Полноформатное развертывание в сети супермаркетов Profi.</a:t>
            </a:r>
          </a:p>
          <a:p>
            <a:pPr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• Подключение автоматизированного дашборда учета сокращения выбросов Scope 3.</a:t>
            </a:r>
          </a:p>
          <a:p>
            <a:pPr>
              <a:defRPr sz="1150">
                <a:solidFill>
                  <a:srgbClr val="94A3B8"/>
                </a:solidFill>
                <a:latin typeface="Plus Jakarta Sans"/>
              </a:defRPr>
            </a:pPr>
            <a:r>
              <a:t>• Оптимизация логистики оптовых поставок rPET моно-упаковки.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212080"/>
            <a:ext cx="10545775" cy="1097280"/>
          </a:xfrm>
          <a:prstGeom prst="roundRect">
            <a:avLst/>
          </a:prstGeom>
          <a:solidFill>
            <a:srgbClr val="122E24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34D399"/>
                </a:solidFill>
                <a:latin typeface="Plus Jakarta Sans"/>
              </a:defRPr>
            </a:pPr>
            <a:r>
              <a:t>📦 Комплект из 200 образцов готов к передаче технологической службе Profi:</a:t>
            </a:r>
          </a:p>
          <a:p>
            <a:pPr>
              <a:defRPr sz="1200">
                <a:solidFill>
                  <a:srgbClr val="FFFFFF"/>
                </a:solidFill>
                <a:latin typeface="Plus Jakarta Sans"/>
              </a:defRPr>
            </a:pPr>
            <a:r>
              <a:t>Партия пакетов CPET Ultra-Flex и термобоксов LignoShield подготовлена для старта испытаний на тепловых витринах гриля Profi уже на следующей неделе.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solidFill>
              <a:srgbClr val="0F1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820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463040"/>
            <a:ext cx="88998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  <a:latin typeface="JetBrains Mono"/>
              </a:defRPr>
            </a:pPr>
            <a:r>
              <a:t>DEEPTECH GIGAHACK 2026 • BIOMENTORHUB × PROFI</a:t>
            </a:r>
          </a:p>
          <a:p>
            <a:pPr algn="ctr">
              <a:defRPr sz="3800" b="1">
                <a:solidFill>
                  <a:srgbClr val="FFFFFF"/>
                </a:solidFill>
                <a:latin typeface="Plus Jakarta Sans"/>
              </a:defRPr>
            </a:pPr>
            <a:r>
              <a:t>PackShift</a:t>
            </a:r>
          </a:p>
          <a:p>
            <a:pPr algn="ctr">
              <a:defRPr sz="2000" b="1">
                <a:solidFill>
                  <a:srgbClr val="34D399"/>
                </a:solidFill>
                <a:latin typeface="Plus Jakarta Sans"/>
              </a:defRPr>
            </a:pPr>
            <a:r>
              <a:t>Делаем циркулярность прибыльной для Profi уже сегодня</a:t>
            </a:r>
          </a:p>
          <a:p>
            <a:pPr algn="ctr">
              <a:defRPr sz="1300">
                <a:solidFill>
                  <a:srgbClr val="94A3B8"/>
                </a:solidFill>
                <a:latin typeface="Plus Jakarta Sans"/>
              </a:defRPr>
            </a:pPr>
            <a:br/>
            <a:r>
              <a:t>0% первичного пластика • -14% себестоимость • Нулевой CapEx • Защита маржинальности Profi</a:t>
            </a:r>
          </a:p>
          <a:p>
            <a:pPr algn="ctr">
              <a:defRPr sz="1700" b="1">
                <a:solidFill>
                  <a:srgbClr val="FFFFFF"/>
                </a:solidFill>
                <a:latin typeface="Plus Jakarta Sans"/>
              </a:defRPr>
            </a:pPr>
            <a:br/>
            <a:r>
              <a:t>Благодарим за внимание! Готовы ответить на ваши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