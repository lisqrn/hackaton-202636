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4"/>
          </a:solidFill>
          <a:ln>
            <a:solidFill>
              <a:srgbClr val="FAF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868680"/>
          </a:xfrm>
          <a:prstGeom prst="roundRect">
            <a:avLst/>
          </a:prstGeom>
          <a:solidFill>
            <a:srgbClr val="12352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429768"/>
            <a:ext cx="2011680" cy="64008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84632"/>
            <a:ext cx="1737360" cy="57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0" y="365760"/>
            <a:ext cx="8046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  <a:latin typeface="Plus Jakarta Sans"/>
              </a:defRPr>
            </a:pPr>
            <a:r>
              <a:t>DEEPTECH GIGAHACK 2026 • BIOMENTORHUB × PROFI</a:t>
            </a:r>
          </a:p>
          <a:p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Революция пищевой упаковки ритейла: 0% первичного пластика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28655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5803D"/>
                </a:solidFill>
                <a:latin typeface="Plus Jakarta Sans"/>
              </a:defRPr>
            </a:pPr>
            <a:r>
              <a:t>🌱 ТРЕК BIOMENTORHUB × PROFI • ХАКАТОН 2026</a:t>
            </a:r>
          </a:p>
          <a:p>
            <a:pPr>
              <a:defRPr sz="3200" b="1">
                <a:solidFill>
                  <a:srgbClr val="123524"/>
                </a:solidFill>
                <a:latin typeface="Plus Jakarta Sans"/>
              </a:defRPr>
            </a:pPr>
            <a:r>
              <a:t>PackShift: 0% первичного пластика, 100% циркулярность</a:t>
            </a:r>
          </a:p>
          <a:p>
            <a:pPr>
              <a:defRPr sz="1400">
                <a:solidFill>
                  <a:srgbClr val="526B5C"/>
                </a:solidFill>
                <a:latin typeface="Plus Jakarta Sans"/>
              </a:defRPr>
            </a:pPr>
            <a:r>
              <a:t>Инженерные решения для сети супермаркетов Profi: биомиметические барьеры против жира, термостойкость до 250°C без токсичных PFAS, продление свежести продуктов и прямое снижение эко-сбора.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25146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9768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803D"/>
                </a:solidFill>
                <a:latin typeface="JetBrains Mono"/>
              </a:defRPr>
            </a:pPr>
            <a:r>
              <a:t>-88%</a:t>
            </a:r>
          </a:p>
          <a:p>
            <a:pPr>
              <a:defRPr sz="1400" b="1">
                <a:solidFill>
                  <a:srgbClr val="123524"/>
                </a:solidFill>
                <a:latin typeface="Plus Jakarta Sans"/>
              </a:defRPr>
            </a:pPr>
            <a:r>
              <a:t>Первичный пластик</a:t>
            </a:r>
          </a:p>
          <a:p>
            <a:pPr>
              <a:defRPr sz="1100">
                <a:solidFill>
                  <a:srgbClr val="526B5C"/>
                </a:solidFill>
                <a:latin typeface="Plus Jakarta Sans"/>
              </a:defRPr>
            </a:pPr>
            <a:r>
              <a:t>Замена на rPET и биополимеры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4114800"/>
            <a:ext cx="2514600" cy="2286000"/>
          </a:xfrm>
          <a:prstGeom prst="roundRect">
            <a:avLst/>
          </a:prstGeom>
          <a:solidFill>
            <a:srgbClr val="12352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2736" y="429768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2C55E"/>
                </a:solidFill>
                <a:latin typeface="JetBrains Mono"/>
              </a:defRPr>
            </a:pPr>
            <a:r>
              <a:t>250°C</a:t>
            </a:r>
          </a:p>
          <a:p>
            <a:pPr>
              <a:defRPr sz="1400" b="1">
                <a:solidFill>
                  <a:srgbClr val="FFFFFF"/>
                </a:solidFill>
                <a:latin typeface="Plus Jakarta Sans"/>
              </a:defRPr>
            </a:pPr>
            <a:r>
              <a:t>Термостойкость гриля</a:t>
            </a:r>
          </a:p>
          <a:p>
            <a:pPr>
              <a:defRPr sz="1100">
                <a:solidFill>
                  <a:srgbClr val="FAF4E4"/>
                </a:solidFill>
                <a:latin typeface="Plus Jakarta Sans"/>
              </a:defRPr>
            </a:pPr>
            <a:r>
              <a:t>До 6ч в витрине без размягчения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114800"/>
            <a:ext cx="25146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429768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803D"/>
                </a:solidFill>
                <a:latin typeface="JetBrains Mono"/>
              </a:defRPr>
            </a:pPr>
            <a:r>
              <a:t>+4 дня</a:t>
            </a:r>
          </a:p>
          <a:p>
            <a:pPr>
              <a:defRPr sz="1400" b="1">
                <a:solidFill>
                  <a:srgbClr val="123524"/>
                </a:solidFill>
                <a:latin typeface="Plus Jakarta Sans"/>
              </a:defRPr>
            </a:pPr>
            <a:r>
              <a:t>Свежесть продуктов</a:t>
            </a:r>
          </a:p>
          <a:p>
            <a:pPr>
              <a:defRPr sz="1100">
                <a:solidFill>
                  <a:srgbClr val="526B5C"/>
                </a:solidFill>
                <a:latin typeface="Plus Jakarta Sans"/>
              </a:defRPr>
            </a:pPr>
            <a:r>
              <a:t>Лазерная микроперфорация EMAP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3688" y="4114800"/>
            <a:ext cx="25146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429768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803D"/>
                </a:solidFill>
                <a:latin typeface="JetBrains Mono"/>
              </a:defRPr>
            </a:pPr>
            <a:r>
              <a:t>Class A</a:t>
            </a:r>
          </a:p>
          <a:p>
            <a:pPr>
              <a:defRPr sz="1400" b="1">
                <a:solidFill>
                  <a:srgbClr val="123524"/>
                </a:solidFill>
                <a:latin typeface="Plus Jakarta Sans"/>
              </a:defRPr>
            </a:pPr>
            <a:r>
              <a:t>RecyClass &amp; PPWR</a:t>
            </a:r>
          </a:p>
          <a:p>
            <a:pPr>
              <a:defRPr sz="1100">
                <a:solidFill>
                  <a:srgbClr val="526B5C"/>
                </a:solidFill>
                <a:latin typeface="Plus Jakarta Sans"/>
              </a:defRPr>
            </a:pPr>
            <a:r>
              <a:t>100% моно-материалы в сортировку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4"/>
          </a:solidFill>
          <a:ln>
            <a:solidFill>
              <a:srgbClr val="FAF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868680"/>
          </a:xfrm>
          <a:prstGeom prst="roundRect">
            <a:avLst/>
          </a:prstGeom>
          <a:solidFill>
            <a:srgbClr val="12352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429768"/>
            <a:ext cx="2011680" cy="64008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84632"/>
            <a:ext cx="1737360" cy="57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0" y="365760"/>
            <a:ext cx="8046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  <a:latin typeface="Plus Jakarta Sans"/>
              </a:defRPr>
            </a:pPr>
            <a:r>
              <a:t>ПРОБЛЕМА И КОНТЕКСТ</a:t>
            </a:r>
          </a:p>
          <a:p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Двойной вызов ритейла: Регуляторный капкан и боль витрины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4592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23524"/>
                </a:solidFill>
                <a:latin typeface="Plus Jakarta Sans"/>
              </a:defRPr>
            </a:pPr>
            <a:r>
              <a:t>⚖️ 1. Регуляторное давление на Profi</a:t>
            </a:r>
          </a:p>
          <a:p>
            <a:pPr>
              <a:defRPr b="1" sz="1200">
                <a:solidFill>
                  <a:srgbClr val="123524"/>
                </a:solidFill>
              </a:defRPr>
            </a:pPr>
            <a:r>
              <a:t>• Директива EU PPWR 2030: </a:t>
            </a:r>
            <a:r>
              <a:rPr b="0">
                <a:solidFill>
                  <a:srgbClr val="526B5C"/>
                </a:solidFill>
              </a:rPr>
              <a:t>Запрет многослойных неперерабатываемых полимеров. Штрафы ритейлерам за превышение квот первичного пластика.</a:t>
            </a:r>
          </a:p>
          <a:p>
            <a:pPr>
              <a:defRPr b="1" sz="1200">
                <a:solidFill>
                  <a:srgbClr val="123524"/>
                </a:solidFill>
              </a:defRPr>
            </a:pPr>
            <a:r>
              <a:t>• Экологический сбор (EPR Tax): </a:t>
            </a:r>
            <a:r>
              <a:rPr b="0">
                <a:solidFill>
                  <a:srgbClr val="526B5C"/>
                </a:solidFill>
              </a:rPr>
              <a:t>Рост ставки налога на комбинированные ламинаты (ПЭ+фольга) на 45%. Трудная упаковка становится прямым убытком.</a:t>
            </a:r>
          </a:p>
          <a:p>
            <a:pPr>
              <a:defRPr b="1" sz="1200">
                <a:solidFill>
                  <a:srgbClr val="123524"/>
                </a:solidFill>
              </a:defRPr>
            </a:pPr>
            <a:r>
              <a:t>• Запрет PFAS (вечные токсины): </a:t>
            </a:r>
            <a:r>
              <a:rPr b="0">
                <a:solidFill>
                  <a:srgbClr val="526B5C"/>
                </a:solidFill>
              </a:rPr>
              <a:t>Европейские регуляторы вводят полный бан на фторированные гидрофобизаторы в пищевом контакте.</a:t>
            </a:r>
          </a:p>
          <a:p>
            <a:pPr>
              <a:defRPr b="1" sz="1200">
                <a:solidFill>
                  <a:srgbClr val="123524"/>
                </a:solidFill>
              </a:defRPr>
            </a:pPr>
            <a:r>
              <a:t>• CSRD аудит (Scope 3): </a:t>
            </a:r>
            <a:r>
              <a:rPr b="0">
                <a:solidFill>
                  <a:srgbClr val="526B5C"/>
                </a:solidFill>
              </a:rPr>
              <a:t>Сеть Profi обязана публично декларировать и сокращать углеродный след упаковки по всей цепочке.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937760"/>
          </a:xfrm>
          <a:prstGeom prst="roundRect">
            <a:avLst/>
          </a:prstGeom>
          <a:solidFill>
            <a:srgbClr val="12352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4592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  <a:latin typeface="Plus Jakarta Sans"/>
              </a:defRPr>
            </a:pPr>
            <a:r>
              <a:t>🔥 2. Острая боль: Отдел гриля Profi</a:t>
            </a:r>
          </a:p>
          <a:p>
            <a:pPr>
              <a:defRPr b="1" sz="1200">
                <a:solidFill>
                  <a:srgbClr val="22C55E"/>
                </a:solidFill>
              </a:defRPr>
            </a:pPr>
            <a:r>
              <a:t>• Экстремальный режим: </a:t>
            </a:r>
            <a:r>
              <a:rPr b="0">
                <a:solidFill>
                  <a:srgbClr val="FAF4E4"/>
                </a:solidFill>
              </a:rPr>
              <a:t>Выдержка в витрине при 85°C – 120°C до 6 часов. Пиковые температуры фасовки — до 250°C.</a:t>
            </a:r>
          </a:p>
          <a:p>
            <a:pPr>
              <a:defRPr b="1" sz="1200">
                <a:solidFill>
                  <a:srgbClr val="22C55E"/>
                </a:solidFill>
              </a:defRPr>
            </a:pPr>
            <a:r>
              <a:t>• Дефекты текущей упаковки: </a:t>
            </a:r>
            <a:r>
              <a:rPr b="0">
                <a:solidFill>
                  <a:srgbClr val="FAF4E4"/>
                </a:solidFill>
              </a:rPr>
              <a:t>Полиэтиленовые пакеты с фольгой размягчаются, текут горячим жиром и выделяют запах нагретой синтетики.</a:t>
            </a:r>
          </a:p>
          <a:p>
            <a:pPr>
              <a:defRPr b="1" sz="1200">
                <a:solidFill>
                  <a:srgbClr val="22C55E"/>
                </a:solidFill>
              </a:defRPr>
            </a:pPr>
            <a:r>
              <a:t>• Эффект «парника»: </a:t>
            </a:r>
            <a:r>
              <a:rPr b="0">
                <a:solidFill>
                  <a:srgbClr val="FAF4E4"/>
                </a:solidFill>
              </a:rPr>
              <a:t>Пар блокируется внутри пакета, размачивая хрустящую корочку гриля в кашу за 40 минут.</a:t>
            </a:r>
          </a:p>
          <a:p>
            <a:pPr>
              <a:defRPr b="1" sz="1200">
                <a:solidFill>
                  <a:srgbClr val="22C55E"/>
                </a:solidFill>
              </a:defRPr>
            </a:pPr>
            <a:r>
              <a:t>• Скрытая токсичность: </a:t>
            </a:r>
            <a:r>
              <a:rPr b="0">
                <a:solidFill>
                  <a:srgbClr val="FAF4E4"/>
                </a:solidFill>
              </a:rPr>
              <a:t>Жиростойкость текущих упаковок держится на PFAS, мигрирующих в горячую пищу.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4"/>
          </a:solidFill>
          <a:ln>
            <a:solidFill>
              <a:srgbClr val="FAF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868680"/>
          </a:xfrm>
          <a:prstGeom prst="roundRect">
            <a:avLst/>
          </a:prstGeom>
          <a:solidFill>
            <a:srgbClr val="12352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429768"/>
            <a:ext cx="2011680" cy="64008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84632"/>
            <a:ext cx="1737360" cy="57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0" y="365760"/>
            <a:ext cx="8046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  <a:latin typeface="Plus Jakarta Sans"/>
              </a:defRPr>
            </a:pPr>
            <a:r>
              <a:t>СПЕЦИАЛЬНЫЙ ВЫЗОВ ХАКАТОНА</a:t>
            </a:r>
          </a:p>
          <a:p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Готовая кулинария: Упаковка гриля высокой температуры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4592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5803D"/>
                </a:solidFill>
                <a:latin typeface="Plus Jakarta Sans"/>
              </a:defRPr>
            </a:pPr>
            <a:r>
              <a:t>РЕШЕНИЕ А • МОНО-ПАКЕТ</a:t>
            </a:r>
          </a:p>
          <a:p>
            <a:pPr>
              <a:defRPr sz="2100" b="1">
                <a:solidFill>
                  <a:srgbClr val="123524"/>
                </a:solidFill>
                <a:latin typeface="Plus Jakarta Sans"/>
              </a:defRPr>
            </a:pPr>
            <a:r>
              <a:t>PackShift CPET Ultra-Flex</a:t>
            </a:r>
          </a:p>
          <a:p>
            <a:pPr>
              <a:defRPr b="1" sz="1200">
                <a:solidFill>
                  <a:srgbClr val="123524"/>
                </a:solidFill>
              </a:defRPr>
            </a:pPr>
            <a:r>
              <a:t>Материал: </a:t>
            </a:r>
            <a:r>
              <a:rPr b="0">
                <a:solidFill>
                  <a:srgbClr val="526B5C"/>
                </a:solidFill>
              </a:rPr>
              <a:t>Кристаллический модифицированный rPET (кристалличность &gt; 38%).</a:t>
            </a:r>
          </a:p>
          <a:p>
            <a:pPr>
              <a:defRPr b="1" sz="1200">
                <a:solidFill>
                  <a:srgbClr val="123524"/>
                </a:solidFill>
              </a:defRPr>
            </a:pPr>
            <a:r>
              <a:t>Термостойкость: </a:t>
            </a:r>
            <a:r>
              <a:rPr b="0">
                <a:solidFill>
                  <a:srgbClr val="526B5C"/>
                </a:solidFill>
              </a:rPr>
              <a:t>от -40°C до +250°C (Dual-Ovenable: разогрев прямо в упаковке).</a:t>
            </a:r>
          </a:p>
          <a:p>
            <a:pPr>
              <a:defRPr b="1" sz="1200">
                <a:solidFill>
                  <a:srgbClr val="123524"/>
                </a:solidFill>
              </a:defRPr>
            </a:pPr>
            <a:r>
              <a:t>Витрина гриля: </a:t>
            </a:r>
            <a:r>
              <a:rPr b="0">
                <a:solidFill>
                  <a:srgbClr val="526B5C"/>
                </a:solidFill>
              </a:rPr>
              <a:t>6+ часов при 95°C–120°C без усадки, запаха и деформации.</a:t>
            </a:r>
          </a:p>
          <a:p>
            <a:pPr>
              <a:defRPr b="1" sz="1200">
                <a:solidFill>
                  <a:srgbClr val="123524"/>
                </a:solidFill>
              </a:defRPr>
            </a:pPr>
            <a:r>
              <a:t>Жиростойкость: </a:t>
            </a:r>
            <a:r>
              <a:rPr b="0">
                <a:solidFill>
                  <a:srgbClr val="526B5C"/>
                </a:solidFill>
              </a:rPr>
              <a:t>Высший класс Kit Test 12. 100% PFAS-Free.</a:t>
            </a:r>
          </a:p>
          <a:p>
            <a:pPr>
              <a:defRPr b="1" sz="1200">
                <a:solidFill>
                  <a:srgbClr val="123524"/>
                </a:solidFill>
              </a:defRPr>
            </a:pPr>
            <a:r>
              <a:t>Циркулярность: </a:t>
            </a:r>
            <a:r>
              <a:rPr b="0">
                <a:solidFill>
                  <a:srgbClr val="526B5C"/>
                </a:solidFill>
              </a:rPr>
              <a:t>100% моно-материал. Поток ПЭТ-бутылок (RecyClass Class A).</a:t>
            </a:r>
          </a:p>
          <a:p>
            <a:pPr>
              <a:defRPr b="1" sz="1200">
                <a:solidFill>
                  <a:srgbClr val="123524"/>
                </a:solidFill>
              </a:defRPr>
            </a:pPr>
            <a:r>
              <a:t>Экономика: </a:t>
            </a:r>
            <a:r>
              <a:rPr b="0">
                <a:solidFill>
                  <a:srgbClr val="526B5C"/>
                </a:solidFill>
              </a:rPr>
              <a:t>Себестоимость на 14% ниже импортных фольгированных ламинатов.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937760"/>
          </a:xfrm>
          <a:prstGeom prst="roundRect">
            <a:avLst/>
          </a:prstGeom>
          <a:solidFill>
            <a:srgbClr val="12352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4592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C55E"/>
                </a:solidFill>
                <a:latin typeface="Plus Jakarta Sans"/>
              </a:defRPr>
            </a:pPr>
            <a:r>
              <a:t>РЕШЕНИЕ Б • БИО-КОМПОЗИТ (PROFI BIO)</a:t>
            </a:r>
          </a:p>
          <a:p>
            <a:pPr>
              <a:defRPr sz="2100" b="1">
                <a:solidFill>
                  <a:srgbClr val="FFFFFF"/>
                </a:solidFill>
                <a:latin typeface="Plus Jakarta Sans"/>
              </a:defRPr>
            </a:pPr>
            <a:r>
              <a:t>LignoShield™ ThermoBox</a:t>
            </a:r>
          </a:p>
          <a:p>
            <a:pPr>
              <a:defRPr b="1" sz="1200">
                <a:solidFill>
                  <a:srgbClr val="22C55E"/>
                </a:solidFill>
              </a:defRPr>
            </a:pPr>
            <a:r>
              <a:t>Материал: </a:t>
            </a:r>
            <a:r>
              <a:rPr b="0">
                <a:solidFill>
                  <a:srgbClr val="FAF4E4"/>
                </a:solidFill>
              </a:rPr>
              <a:t>100% формованная багасса сахарного тростника + био-барьер из водорослей.</a:t>
            </a:r>
          </a:p>
          <a:p>
            <a:pPr>
              <a:defRPr b="1" sz="1200">
                <a:solidFill>
                  <a:srgbClr val="22C55E"/>
                </a:solidFill>
              </a:defRPr>
            </a:pPr>
            <a:r>
              <a:t>Дышащая мембрана: </a:t>
            </a:r>
            <a:r>
              <a:rPr b="0">
                <a:solidFill>
                  <a:srgbClr val="FAF4E4"/>
                </a:solidFill>
              </a:rPr>
              <a:t>Стравливает лишний пар, сохраняя корочку гриля хрустящей.</a:t>
            </a:r>
          </a:p>
          <a:p>
            <a:pPr>
              <a:defRPr b="1" sz="1200">
                <a:solidFill>
                  <a:srgbClr val="22C55E"/>
                </a:solidFill>
              </a:defRPr>
            </a:pPr>
            <a:r>
              <a:t>Жиробарьер: </a:t>
            </a:r>
            <a:r>
              <a:rPr b="0">
                <a:solidFill>
                  <a:srgbClr val="FAF4E4"/>
                </a:solidFill>
              </a:rPr>
              <a:t>Альгинат натрия + хитозан на водной основе. 0% пластика, 0% фтора.</a:t>
            </a:r>
          </a:p>
          <a:p>
            <a:pPr>
              <a:defRPr b="1" sz="1200">
                <a:solidFill>
                  <a:srgbClr val="22C55E"/>
                </a:solidFill>
              </a:defRPr>
            </a:pPr>
            <a:r>
              <a:t>Термостойкость: </a:t>
            </a:r>
            <a:r>
              <a:rPr b="0">
                <a:solidFill>
                  <a:srgbClr val="FAF4E4"/>
                </a:solidFill>
              </a:rPr>
              <a:t>До +220°C кратковременно, 6 часов в тепловой витрине.</a:t>
            </a:r>
          </a:p>
          <a:p>
            <a:pPr>
              <a:defRPr b="1" sz="1200">
                <a:solidFill>
                  <a:srgbClr val="22C55E"/>
                </a:solidFill>
              </a:defRPr>
            </a:pPr>
            <a:r>
              <a:t>Утилизация: </a:t>
            </a:r>
            <a:r>
              <a:rPr b="0">
                <a:solidFill>
                  <a:srgbClr val="FAF4E4"/>
                </a:solidFill>
              </a:rPr>
              <a:t>Домашний компост за 60 дней (OK Compost HOME) или макулатура.</a:t>
            </a:r>
          </a:p>
          <a:p>
            <a:pPr>
              <a:defRPr b="1" sz="1200">
                <a:solidFill>
                  <a:srgbClr val="22C55E"/>
                </a:solidFill>
              </a:defRPr>
            </a:pPr>
            <a:r>
              <a:t>Позиционирование: </a:t>
            </a:r>
            <a:r>
              <a:rPr b="0">
                <a:solidFill>
                  <a:srgbClr val="FAF4E4"/>
                </a:solidFill>
              </a:rPr>
              <a:t>Идеально для премиальной эко-кулинарии сети Profi.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4"/>
          </a:solidFill>
          <a:ln>
            <a:solidFill>
              <a:srgbClr val="FAF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868680"/>
          </a:xfrm>
          <a:prstGeom prst="roundRect">
            <a:avLst/>
          </a:prstGeom>
          <a:solidFill>
            <a:srgbClr val="12352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429768"/>
            <a:ext cx="2011680" cy="64008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84632"/>
            <a:ext cx="1737360" cy="57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0" y="365760"/>
            <a:ext cx="8046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  <a:latin typeface="Plus Jakarta Sans"/>
              </a:defRPr>
            </a:pPr>
            <a:r>
              <a:t>КАТАЛОГ РЕШЕНИЙ ПО ОТДЕЛАМ</a:t>
            </a:r>
          </a:p>
          <a:p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Комплексная оптимизация отделов супермаркета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5803D"/>
                </a:solidFill>
                <a:latin typeface="Plus Jakarta Sans"/>
              </a:defRPr>
            </a:pPr>
            <a:r>
              <a:t>🥬 СВЕЖИЕ ОВОЩИ И ЗЕЛЕНЬ</a:t>
            </a:r>
          </a:p>
          <a:p>
            <a:pPr>
              <a:defRPr sz="1800" b="1">
                <a:solidFill>
                  <a:srgbClr val="123524"/>
                </a:solidFill>
                <a:latin typeface="Plus Jakarta Sans"/>
              </a:defRPr>
            </a:pPr>
            <a:r>
              <a:t>EMAP Laser-Breathe™</a:t>
            </a:r>
          </a:p>
          <a:p>
            <a:pPr>
              <a:defRPr b="1" sz="1150">
                <a:solidFill>
                  <a:srgbClr val="123524"/>
                </a:solidFill>
              </a:defRPr>
            </a:pPr>
            <a:r>
              <a:t>• Проблема: </a:t>
            </a:r>
            <a:r>
              <a:rPr b="0">
                <a:solidFill>
                  <a:srgbClr val="526B5C"/>
                </a:solidFill>
              </a:rPr>
              <a:t>Конденсат, плесень, 28-35% списаний зелени и ягод.</a:t>
            </a:r>
          </a:p>
          <a:p>
            <a:pPr>
              <a:defRPr b="1" sz="1150">
                <a:solidFill>
                  <a:srgbClr val="123524"/>
                </a:solidFill>
              </a:defRPr>
            </a:pPr>
            <a:r>
              <a:t>• Технология: </a:t>
            </a:r>
            <a:r>
              <a:rPr b="0">
                <a:solidFill>
                  <a:srgbClr val="526B5C"/>
                </a:solidFill>
              </a:rPr>
              <a:t>Моно-пленка rBOPP с лазерной микроперфорацией. Баланс O₂ (3-5%) и CO₂ (5-8%).</a:t>
            </a:r>
          </a:p>
          <a:p>
            <a:pPr>
              <a:defRPr b="1" sz="1150">
                <a:solidFill>
                  <a:srgbClr val="123524"/>
                </a:solidFill>
              </a:defRPr>
            </a:pPr>
            <a:r>
              <a:t>• Эффект: </a:t>
            </a:r>
            <a:r>
              <a:rPr b="0">
                <a:solidFill>
                  <a:srgbClr val="526B5C"/>
                </a:solidFill>
              </a:rPr>
              <a:t>+4 дня срока годности на полке.</a:t>
            </a:r>
          </a:p>
          <a:p>
            <a:pPr>
              <a:defRPr b="1" sz="1150">
                <a:solidFill>
                  <a:srgbClr val="123524"/>
                </a:solidFill>
              </a:defRPr>
            </a:pPr>
            <a:r>
              <a:t>• Результат: </a:t>
            </a:r>
            <a:r>
              <a:rPr b="0">
                <a:solidFill>
                  <a:srgbClr val="526B5C"/>
                </a:solidFill>
              </a:rPr>
              <a:t>Сокращение списаний в супермаркетах на 32%.</a:t>
            </a:r>
          </a:p>
          <a:p>
            <a:pPr>
              <a:defRPr b="1" sz="1150">
                <a:solidFill>
                  <a:srgbClr val="123524"/>
                </a:solidFill>
              </a:defRPr>
            </a:pPr>
            <a:r>
              <a:t>• Материал: </a:t>
            </a:r>
            <a:r>
              <a:rPr b="0">
                <a:solidFill>
                  <a:srgbClr val="526B5C"/>
                </a:solidFill>
              </a:rPr>
              <a:t>Моно-rBOPP • 100% Recyclable.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5803D"/>
                </a:solidFill>
                <a:latin typeface="Plus Jakarta Sans"/>
              </a:defRPr>
            </a:pPr>
            <a:r>
              <a:t>🥩 МЯСНОЙ И РЫБНЫЙ ОТДЕЛ</a:t>
            </a:r>
          </a:p>
          <a:p>
            <a:pPr>
              <a:defRPr sz="1800" b="1">
                <a:solidFill>
                  <a:srgbClr val="123524"/>
                </a:solidFill>
                <a:latin typeface="Plus Jakarta Sans"/>
              </a:defRPr>
            </a:pPr>
            <a:r>
              <a:t>Capillary Tray (Pad-Less)</a:t>
            </a:r>
          </a:p>
          <a:p>
            <a:pPr>
              <a:defRPr b="1" sz="1150">
                <a:solidFill>
                  <a:srgbClr val="123524"/>
                </a:solidFill>
              </a:defRPr>
            </a:pPr>
            <a:r>
              <a:t>• Проблема: </a:t>
            </a:r>
            <a:r>
              <a:rPr b="0">
                <a:solidFill>
                  <a:srgbClr val="526B5C"/>
                </a:solidFill>
              </a:rPr>
              <a:t>Грязная салфетка-вкладыш исключает лоток из рециклинга.</a:t>
            </a:r>
          </a:p>
          <a:p>
            <a:pPr>
              <a:defRPr b="1" sz="1150">
                <a:solidFill>
                  <a:srgbClr val="123524"/>
                </a:solidFill>
              </a:defRPr>
            </a:pPr>
            <a:r>
              <a:t>• Технология: </a:t>
            </a:r>
            <a:r>
              <a:rPr b="0">
                <a:solidFill>
                  <a:srgbClr val="526B5C"/>
                </a:solidFill>
              </a:rPr>
              <a:t>Глубокоформованный моно-rPET лоток с капиллярным гидро-замком на 45 мл экссудата.</a:t>
            </a:r>
          </a:p>
          <a:p>
            <a:pPr>
              <a:defRPr b="1" sz="1150">
                <a:solidFill>
                  <a:srgbClr val="123524"/>
                </a:solidFill>
              </a:defRPr>
            </a:pPr>
            <a:r>
              <a:t>• Эффект: </a:t>
            </a:r>
            <a:r>
              <a:rPr b="0">
                <a:solidFill>
                  <a:srgbClr val="526B5C"/>
                </a:solidFill>
              </a:rPr>
              <a:t>0 синтетических салфеток-вкладышей.</a:t>
            </a:r>
          </a:p>
          <a:p>
            <a:pPr>
              <a:defRPr b="1" sz="1150">
                <a:solidFill>
                  <a:srgbClr val="123524"/>
                </a:solidFill>
              </a:defRPr>
            </a:pPr>
            <a:r>
              <a:t>• Результат: </a:t>
            </a:r>
            <a:r>
              <a:rPr b="0">
                <a:solidFill>
                  <a:srgbClr val="526B5C"/>
                </a:solidFill>
              </a:rPr>
              <a:t>100% чистый поток вторичной переработки.</a:t>
            </a:r>
          </a:p>
          <a:p>
            <a:pPr>
              <a:defRPr b="1" sz="1150">
                <a:solidFill>
                  <a:srgbClr val="123524"/>
                </a:solidFill>
              </a:defRPr>
            </a:pPr>
            <a:r>
              <a:t>• Материал: </a:t>
            </a:r>
            <a:r>
              <a:rPr b="0">
                <a:solidFill>
                  <a:srgbClr val="526B5C"/>
                </a:solidFill>
              </a:rPr>
              <a:t>85% rPET • RecyClass Class 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5803D"/>
                </a:solidFill>
                <a:latin typeface="Plus Jakarta Sans"/>
              </a:defRPr>
            </a:pPr>
            <a:r>
              <a:t>🥐 ПЕКАРНЯ И ВЫПЕЧКА</a:t>
            </a:r>
          </a:p>
          <a:p>
            <a:pPr>
              <a:defRPr sz="1800" b="1">
                <a:solidFill>
                  <a:srgbClr val="123524"/>
                </a:solidFill>
                <a:latin typeface="Plus Jakarta Sans"/>
              </a:defRPr>
            </a:pPr>
            <a:r>
              <a:t>NatureVent Crisp™</a:t>
            </a:r>
          </a:p>
          <a:p>
            <a:pPr>
              <a:defRPr b="1" sz="1150">
                <a:solidFill>
                  <a:srgbClr val="123524"/>
                </a:solidFill>
              </a:defRPr>
            </a:pPr>
            <a:r>
              <a:t>• Проблема: </a:t>
            </a:r>
            <a:r>
              <a:rPr b="0">
                <a:solidFill>
                  <a:srgbClr val="526B5C"/>
                </a:solidFill>
              </a:rPr>
              <a:t>Пакеты с пластиковыми окнами не перерабатываются.</a:t>
            </a:r>
          </a:p>
          <a:p>
            <a:pPr>
              <a:defRPr b="1" sz="1150">
                <a:solidFill>
                  <a:srgbClr val="123524"/>
                </a:solidFill>
              </a:defRPr>
            </a:pPr>
            <a:r>
              <a:t>• Технология: </a:t>
            </a:r>
            <a:r>
              <a:rPr b="0">
                <a:solidFill>
                  <a:srgbClr val="526B5C"/>
                </a:solidFill>
              </a:rPr>
              <a:t>Крафт FSC + прозрачное смотровое окно NatureFlex™ из древесной массы + био-воск.</a:t>
            </a:r>
          </a:p>
          <a:p>
            <a:pPr>
              <a:defRPr b="1" sz="1150">
                <a:solidFill>
                  <a:srgbClr val="123524"/>
                </a:solidFill>
              </a:defRPr>
            </a:pPr>
            <a:r>
              <a:t>• Эффект: </a:t>
            </a:r>
            <a:r>
              <a:rPr b="0">
                <a:solidFill>
                  <a:srgbClr val="526B5C"/>
                </a:solidFill>
              </a:rPr>
              <a:t>Сохранение хрустящей корочки круассанов.</a:t>
            </a:r>
          </a:p>
          <a:p>
            <a:pPr>
              <a:defRPr b="1" sz="1150">
                <a:solidFill>
                  <a:srgbClr val="123524"/>
                </a:solidFill>
              </a:defRPr>
            </a:pPr>
            <a:r>
              <a:t>• Результат: </a:t>
            </a:r>
            <a:r>
              <a:rPr b="0">
                <a:solidFill>
                  <a:srgbClr val="526B5C"/>
                </a:solidFill>
              </a:rPr>
              <a:t>100% Pulpable (переработка с бумагой).</a:t>
            </a:r>
          </a:p>
          <a:p>
            <a:pPr>
              <a:defRPr b="1" sz="1150">
                <a:solidFill>
                  <a:srgbClr val="123524"/>
                </a:solidFill>
              </a:defRPr>
            </a:pPr>
            <a:r>
              <a:t>• Материал: </a:t>
            </a:r>
            <a:r>
              <a:rPr b="0">
                <a:solidFill>
                  <a:srgbClr val="526B5C"/>
                </a:solidFill>
              </a:rPr>
              <a:t>Крафт FSC + целлюлоза • 0% ПЭ.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4"/>
          </a:solidFill>
          <a:ln>
            <a:solidFill>
              <a:srgbClr val="FAF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868680"/>
          </a:xfrm>
          <a:prstGeom prst="roundRect">
            <a:avLst/>
          </a:prstGeom>
          <a:solidFill>
            <a:srgbClr val="12352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429768"/>
            <a:ext cx="2011680" cy="64008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84632"/>
            <a:ext cx="1737360" cy="57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0" y="365760"/>
            <a:ext cx="8046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  <a:latin typeface="Plus Jakarta Sans"/>
              </a:defRPr>
            </a:pPr>
            <a:r>
              <a:t>ИНТЕРАКТИВНАЯ АНАЛИТИКА</a:t>
            </a:r>
          </a:p>
          <a:p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Калькулятор ESG-эффекта и экономии для сети Profi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4937760"/>
          </a:xfrm>
          <a:prstGeom prst="roundRect">
            <a:avLst/>
          </a:prstGeom>
          <a:solidFill>
            <a:srgbClr val="12352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4592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🎯 Моделирование эффекта на масштабе 100 супермаркетов Profi: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2468880"/>
            <a:ext cx="2377440" cy="2468880"/>
          </a:xfrm>
          <a:prstGeom prst="roundRect">
            <a:avLst/>
          </a:prstGeom>
          <a:solidFill>
            <a:srgbClr val="153E2B"/>
          </a:solidFill>
          <a:ln w="127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606040"/>
            <a:ext cx="215798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C55E"/>
                </a:solidFill>
                <a:latin typeface="JetBrains Mono"/>
              </a:defRPr>
            </a:pPr>
            <a:r>
              <a:t>1 840 т</a:t>
            </a:r>
          </a:p>
          <a:p>
            <a:pPr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Первичный пластик</a:t>
            </a:r>
          </a:p>
          <a:p>
            <a:pPr>
              <a:defRPr sz="1050">
                <a:solidFill>
                  <a:srgbClr val="FAF4E4"/>
                </a:solidFill>
                <a:latin typeface="Plus Jakarta Sans"/>
              </a:defRPr>
            </a:pPr>
            <a:r>
              <a:t>Тонн первичных полимеров предотвращено в год благодаря rPET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2736" y="2468880"/>
            <a:ext cx="2377440" cy="2468880"/>
          </a:xfrm>
          <a:prstGeom prst="roundRect">
            <a:avLst/>
          </a:prstGeom>
          <a:solidFill>
            <a:srgbClr val="153E2B"/>
          </a:solidFill>
          <a:ln w="127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2464" y="2606040"/>
            <a:ext cx="215798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C55E"/>
                </a:solidFill>
                <a:latin typeface="JetBrains Mono"/>
              </a:defRPr>
            </a:pPr>
            <a:r>
              <a:t>4 250 т</a:t>
            </a:r>
          </a:p>
          <a:p>
            <a:pPr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Сокращение CO₂e</a:t>
            </a:r>
          </a:p>
          <a:p>
            <a:pPr>
              <a:defRPr sz="1050">
                <a:solidFill>
                  <a:srgbClr val="FAF4E4"/>
                </a:solidFill>
                <a:latin typeface="Plus Jakarta Sans"/>
              </a:defRPr>
            </a:pPr>
            <a:r>
              <a:t>Предотвращено выбросов парниковых газов (Scope 3 Profi)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2468880"/>
            <a:ext cx="2377440" cy="2468880"/>
          </a:xfrm>
          <a:prstGeom prst="roundRect">
            <a:avLst/>
          </a:prstGeom>
          <a:solidFill>
            <a:srgbClr val="153E2B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606040"/>
            <a:ext cx="215798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C55E"/>
                </a:solidFill>
                <a:latin typeface="JetBrains Mono"/>
              </a:defRPr>
            </a:pPr>
            <a:r>
              <a:t>€1 280 000</a:t>
            </a:r>
          </a:p>
          <a:p>
            <a:pPr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Экономия на EPR</a:t>
            </a:r>
          </a:p>
          <a:p>
            <a:pPr>
              <a:defRPr sz="1050">
                <a:solidFill>
                  <a:srgbClr val="FAF4E4"/>
                </a:solidFill>
                <a:latin typeface="Plus Jakarta Sans"/>
              </a:defRPr>
            </a:pPr>
            <a:r>
              <a:t>Прямая годовая экономия на налоге за счет моно-материалов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96528" y="2468880"/>
            <a:ext cx="2377440" cy="2468880"/>
          </a:xfrm>
          <a:prstGeom prst="roundRect">
            <a:avLst/>
          </a:prstGeom>
          <a:solidFill>
            <a:srgbClr val="153E2B"/>
          </a:solidFill>
          <a:ln w="127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06256" y="2606040"/>
            <a:ext cx="215798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C55E"/>
                </a:solidFill>
                <a:latin typeface="JetBrains Mono"/>
              </a:defRPr>
            </a:pPr>
            <a:r>
              <a:t>€700 000</a:t>
            </a:r>
          </a:p>
          <a:p>
            <a:pPr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Снижение списаний</a:t>
            </a:r>
          </a:p>
          <a:p>
            <a:pPr>
              <a:defRPr sz="1050">
                <a:solidFill>
                  <a:srgbClr val="FAF4E4"/>
                </a:solidFill>
                <a:latin typeface="Plus Jakarta Sans"/>
              </a:defRPr>
            </a:pPr>
            <a:r>
              <a:t>Сбережение продукции за счет продления свежести (+4 дня)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2120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22C55E"/>
                </a:solidFill>
              </a:defRPr>
            </a:pPr>
            <a:r>
              <a:t>💡 Нулевой CapEx для ритейлера: </a:t>
            </a:r>
            <a:r>
              <a:rPr b="0">
                <a:solidFill>
                  <a:srgbClr val="FFFFFF"/>
                </a:solidFill>
              </a:rPr>
              <a:t>Упаковка PackShift полностью адаптирована под запайщики, весы и витрины сети Profi. Себестоимость моно-пакетов CPET на 14% ниже импортных фольгированных ламинатов.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4"/>
          </a:solidFill>
          <a:ln>
            <a:solidFill>
              <a:srgbClr val="FAF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868680"/>
          </a:xfrm>
          <a:prstGeom prst="roundRect">
            <a:avLst/>
          </a:prstGeom>
          <a:solidFill>
            <a:srgbClr val="12352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429768"/>
            <a:ext cx="2011680" cy="64008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84632"/>
            <a:ext cx="1737360" cy="57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0" y="365760"/>
            <a:ext cx="8046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  <a:latin typeface="Plus Jakarta Sans"/>
              </a:defRPr>
            </a:pPr>
            <a:r>
              <a:t>МЕЖДУНАРОДНАЯ СЕРТИФИКАЦИЯ</a:t>
            </a:r>
          </a:p>
          <a:p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Соответствие европейским и национальным регуляциям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5146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45920"/>
            <a:ext cx="218541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5803D"/>
                </a:solidFill>
                <a:latin typeface="JetBrains Mono"/>
              </a:defRPr>
            </a:pPr>
            <a:r>
              <a:t>RECYCLASS</a:t>
            </a:r>
          </a:p>
          <a:p>
            <a:pPr>
              <a:defRPr sz="1700" b="1">
                <a:solidFill>
                  <a:srgbClr val="123524"/>
                </a:solidFill>
                <a:latin typeface="Plus Jakarta Sans"/>
              </a:defRPr>
            </a:pPr>
            <a:r>
              <a:t>Grade A Recyclability</a:t>
            </a:r>
          </a:p>
          <a:p>
            <a:pPr>
              <a:defRPr sz="1200">
                <a:solidFill>
                  <a:srgbClr val="526B5C"/>
                </a:solidFill>
                <a:latin typeface="Plus Jakarta Sans"/>
              </a:defRPr>
            </a:pPr>
            <a:r>
              <a:t>Подтвержденная совместимость с оптическими сепараторами и линиями вторичной переработки в ЕС.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5576" y="1463040"/>
            <a:ext cx="25146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1645920"/>
            <a:ext cx="218541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5803D"/>
                </a:solidFill>
                <a:latin typeface="JetBrains Mono"/>
              </a:defRPr>
            </a:pPr>
            <a:r>
              <a:t>EU PPWR</a:t>
            </a:r>
          </a:p>
          <a:p>
            <a:pPr>
              <a:defRPr sz="1700" b="1">
                <a:solidFill>
                  <a:srgbClr val="123524"/>
                </a:solidFill>
                <a:latin typeface="Plus Jakarta Sans"/>
              </a:defRPr>
            </a:pPr>
            <a:r>
              <a:t>PPWR 2030 Ready</a:t>
            </a:r>
          </a:p>
          <a:p>
            <a:pPr>
              <a:defRPr sz="1200">
                <a:solidFill>
                  <a:srgbClr val="526B5C"/>
                </a:solidFill>
                <a:latin typeface="Plus Jakarta Sans"/>
              </a:defRPr>
            </a:pPr>
            <a:r>
              <a:t>Упреждение европейских норм: &gt;35% пищевого rPET, 0% первичного пластика в одноразовых пакетах.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463040"/>
            <a:ext cx="25146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1645920"/>
            <a:ext cx="218541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5803D"/>
                </a:solidFill>
                <a:latin typeface="JetBrains Mono"/>
              </a:defRPr>
            </a:pPr>
            <a:r>
              <a:t>ZERO TOXIC</a:t>
            </a:r>
          </a:p>
          <a:p>
            <a:pPr>
              <a:defRPr sz="1700" b="1">
                <a:solidFill>
                  <a:srgbClr val="123524"/>
                </a:solidFill>
                <a:latin typeface="Plus Jakarta Sans"/>
              </a:defRPr>
            </a:pPr>
            <a:r>
              <a:t>100% PFAS-Free</a:t>
            </a:r>
          </a:p>
          <a:p>
            <a:pPr>
              <a:defRPr sz="1200">
                <a:solidFill>
                  <a:srgbClr val="526B5C"/>
                </a:solidFill>
                <a:latin typeface="Plus Jakarta Sans"/>
              </a:defRPr>
            </a:pPr>
            <a:r>
              <a:t>Сертификация отсутствия пер- и полифторалкильных веществ в контакте с горячим маслом до 250°C.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33688" y="1463040"/>
            <a:ext cx="25146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1645920"/>
            <a:ext cx="218541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5803D"/>
                </a:solidFill>
                <a:latin typeface="JetBrains Mono"/>
              </a:defRPr>
            </a:pPr>
            <a:r>
              <a:t>FOOD SAFE</a:t>
            </a:r>
          </a:p>
          <a:p>
            <a:pPr>
              <a:defRPr sz="1700" b="1">
                <a:solidFill>
                  <a:srgbClr val="123524"/>
                </a:solidFill>
                <a:latin typeface="Plus Jakarta Sans"/>
              </a:defRPr>
            </a:pPr>
            <a:r>
              <a:t>EFSA / FDA Approved</a:t>
            </a:r>
          </a:p>
          <a:p>
            <a:pPr>
              <a:defRPr sz="1200">
                <a:solidFill>
                  <a:srgbClr val="526B5C"/>
                </a:solidFill>
                <a:latin typeface="Plus Jakarta Sans"/>
              </a:defRPr>
            </a:pPr>
            <a:r>
              <a:t>Соответствие Regulation EU No 10/2011 для прямого контакта с горячими, кислыми и жирными продуктами.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4"/>
          </a:solidFill>
          <a:ln>
            <a:solidFill>
              <a:srgbClr val="FAF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868680"/>
          </a:xfrm>
          <a:prstGeom prst="roundRect">
            <a:avLst/>
          </a:prstGeom>
          <a:solidFill>
            <a:srgbClr val="12352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429768"/>
            <a:ext cx="2011680" cy="64008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84632"/>
            <a:ext cx="1737360" cy="57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0" y="365760"/>
            <a:ext cx="8046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  <a:latin typeface="Plus Jakarta Sans"/>
              </a:defRPr>
            </a:pPr>
            <a:r>
              <a:t>ДОРОЖНАЯ КАРТА ВНЕДРЕНИЯ</a:t>
            </a:r>
          </a:p>
          <a:p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План пилотного запуска в супермаркетах Profi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27632"/>
            <a:ext cx="3054096" cy="3145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5803D"/>
                </a:solidFill>
                <a:latin typeface="Plus Jakarta Sans"/>
              </a:defRPr>
            </a:pPr>
            <a:r>
              <a:t>ЭТАП 1 • 2 недели</a:t>
            </a:r>
          </a:p>
          <a:p>
            <a:pPr>
              <a:defRPr sz="1800" b="1">
                <a:solidFill>
                  <a:srgbClr val="123524"/>
                </a:solidFill>
                <a:latin typeface="Plus Jakarta Sans"/>
              </a:defRPr>
            </a:pPr>
            <a:r>
              <a:t>Лабораторный тест</a:t>
            </a:r>
          </a:p>
          <a:p>
            <a:pPr>
              <a:defRPr sz="1150">
                <a:solidFill>
                  <a:srgbClr val="526B5C"/>
                </a:solidFill>
                <a:latin typeface="Plus Jakarta Sans"/>
              </a:defRPr>
            </a:pPr>
            <a:r>
              <a:t>• Тестирование пакетов CPET и термобоксов на витринах гриля Profi при 95°C–120°C.</a:t>
            </a:r>
          </a:p>
          <a:p>
            <a:pPr>
              <a:defRPr sz="1150">
                <a:solidFill>
                  <a:srgbClr val="526B5C"/>
                </a:solidFill>
                <a:latin typeface="Plus Jakarta Sans"/>
              </a:defRPr>
            </a:pPr>
            <a:r>
              <a:t>• Проверка герметичности, жиростойкости (Kit 12) и отсутствия посторонних запахов.</a:t>
            </a:r>
          </a:p>
          <a:p>
            <a:pPr>
              <a:defRPr sz="1150">
                <a:solidFill>
                  <a:srgbClr val="526B5C"/>
                </a:solidFill>
                <a:latin typeface="Plus Jakarta Sans"/>
              </a:defRPr>
            </a:pPr>
            <a:r>
              <a:t>• Протокол миграции EFSA для контакта с горячим куриным жиром.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27632"/>
            <a:ext cx="3054096" cy="3145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5803D"/>
                </a:solidFill>
                <a:latin typeface="Plus Jakarta Sans"/>
              </a:defRPr>
            </a:pPr>
            <a:r>
              <a:t>ЭТАП 2 • 4 недели</a:t>
            </a:r>
          </a:p>
          <a:p>
            <a:pPr>
              <a:defRPr sz="1800" b="1">
                <a:solidFill>
                  <a:srgbClr val="123524"/>
                </a:solidFill>
                <a:latin typeface="Plus Jakarta Sans"/>
              </a:defRPr>
            </a:pPr>
            <a:r>
              <a:t>Пилот в 5 магазинах</a:t>
            </a:r>
          </a:p>
          <a:p>
            <a:pPr>
              <a:defRPr sz="1150">
                <a:solidFill>
                  <a:srgbClr val="526B5C"/>
                </a:solidFill>
                <a:latin typeface="Plus Jakarta Sans"/>
              </a:defRPr>
            </a:pPr>
            <a:r>
              <a:t>• Запуск в 5 флагманских супермаркетах Profi в отделах Гриль и Овощи.</a:t>
            </a:r>
          </a:p>
          <a:p>
            <a:pPr>
              <a:defRPr sz="1150">
                <a:solidFill>
                  <a:srgbClr val="526B5C"/>
                </a:solidFill>
                <a:latin typeface="Plus Jakarta Sans"/>
              </a:defRPr>
            </a:pPr>
            <a:r>
              <a:t>• Сбор обратной связи от поваров кулинарии и покупателей.</a:t>
            </a:r>
          </a:p>
          <a:p>
            <a:pPr>
              <a:defRPr sz="1150">
                <a:solidFill>
                  <a:srgbClr val="526B5C"/>
                </a:solidFill>
                <a:latin typeface="Plus Jakarta Sans"/>
              </a:defRPr>
            </a:pPr>
            <a:r>
              <a:t>• Замер динамики списаний и сохранности хрустящей корочки гриля.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627632"/>
            <a:ext cx="3054096" cy="3145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5803D"/>
                </a:solidFill>
                <a:latin typeface="Plus Jakarta Sans"/>
              </a:defRPr>
            </a:pPr>
            <a:r>
              <a:t>ЭТАП 3 • Квартал 2</a:t>
            </a:r>
          </a:p>
          <a:p>
            <a:pPr>
              <a:defRPr sz="1800" b="1">
                <a:solidFill>
                  <a:srgbClr val="123524"/>
                </a:solidFill>
                <a:latin typeface="Plus Jakarta Sans"/>
              </a:defRPr>
            </a:pPr>
            <a:r>
              <a:t>Масштабирование на сеть</a:t>
            </a:r>
          </a:p>
          <a:p>
            <a:pPr>
              <a:defRPr sz="1150">
                <a:solidFill>
                  <a:srgbClr val="526B5C"/>
                </a:solidFill>
                <a:latin typeface="Plus Jakarta Sans"/>
              </a:defRPr>
            </a:pPr>
            <a:r>
              <a:t>• Полноформатное развертывание в сети магазинов Profi.</a:t>
            </a:r>
          </a:p>
          <a:p>
            <a:pPr>
              <a:defRPr sz="1150">
                <a:solidFill>
                  <a:srgbClr val="526B5C"/>
                </a:solidFill>
                <a:latin typeface="Plus Jakarta Sans"/>
              </a:defRPr>
            </a:pPr>
            <a:r>
              <a:t>• Подключение автоматизированного дашборда учета сокращения выбросов Scope 3.</a:t>
            </a:r>
          </a:p>
          <a:p>
            <a:pPr>
              <a:defRPr sz="1150">
                <a:solidFill>
                  <a:srgbClr val="526B5C"/>
                </a:solidFill>
                <a:latin typeface="Plus Jakarta Sans"/>
              </a:defRPr>
            </a:pPr>
            <a:r>
              <a:t>• Оптимизация логистики поставок моно-упаковки.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10728655" cy="1188720"/>
          </a:xfrm>
          <a:prstGeom prst="roundRect">
            <a:avLst/>
          </a:prstGeom>
          <a:solidFill>
            <a:srgbClr val="12352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22C55E"/>
                </a:solidFill>
              </a:defRPr>
            </a:pPr>
            <a:r>
              <a:t>📦 Комплект из 200 тестовых образцов готов к передаче!</a:t>
            </a:r>
            <a:r>
              <a:rPr b="0">
                <a:solidFill>
                  <a:srgbClr val="FFFFFF"/>
                </a:solidFill>
              </a:rPr>
              <a:t> Партия пакетов CPET Ultra-Flex и термобоксов LignoShield подготовлена для старта испытаний в сети Profi на следующей неделе.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4"/>
          </a:solidFill>
          <a:ln>
            <a:solidFill>
              <a:srgbClr val="FAF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868680"/>
          </a:xfrm>
          <a:prstGeom prst="roundRect">
            <a:avLst/>
          </a:prstGeom>
          <a:solidFill>
            <a:srgbClr val="12352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429768"/>
            <a:ext cx="2011680" cy="64008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84632"/>
            <a:ext cx="1737360" cy="57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0" y="365760"/>
            <a:ext cx="8046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  <a:latin typeface="Plus Jakarta Sans"/>
              </a:defRPr>
            </a:pPr>
            <a:r>
              <a:t>КОМАНДА И КОНТАКТЫ</a:t>
            </a:r>
          </a:p>
          <a:p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Делаем циркулярность прибыльной для Profi уже сегодня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645920"/>
            <a:ext cx="8168335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920240"/>
            <a:ext cx="76196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23524"/>
                </a:solidFill>
                <a:latin typeface="Plus Jakarta Sans"/>
              </a:defRPr>
            </a:pPr>
            <a:r>
              <a:t>PackShift (Profi EcoPack)</a:t>
            </a:r>
          </a:p>
          <a:p>
            <a:pPr algn="ctr">
              <a:defRPr sz="1700" b="1">
                <a:solidFill>
                  <a:srgbClr val="15803D"/>
                </a:solidFill>
                <a:latin typeface="Plus Jakarta Sans"/>
              </a:defRPr>
            </a:pPr>
            <a:r>
              <a:t>0% первичного пластика • Защита маржинальности • Соответствие PPWR 2030</a:t>
            </a:r>
          </a:p>
          <a:p>
            <a:pPr algn="ctr">
              <a:defRPr sz="1400">
                <a:solidFill>
                  <a:srgbClr val="526B5C"/>
                </a:solidFill>
              </a:defRPr>
            </a:pPr>
            <a:br/>
            <a:r>
              <a:t>🌐 Интерактивная веб-платформа и ESG-калькулятор сети Profi:</a:t>
            </a:r>
          </a:p>
          <a:p>
            <a:pPr algn="ctr">
              <a:defRPr sz="2000" b="1">
                <a:solidFill>
                  <a:srgbClr val="15803D"/>
                </a:solidFill>
                <a:latin typeface="JetBrains Mono"/>
              </a:defRPr>
            </a:pPr>
            <a:r>
              <a:t>https://lisqrn.github.io/Hackaton-202636/</a:t>
            </a:r>
          </a:p>
          <a:p>
            <a:pPr algn="ctr">
              <a:defRPr sz="1300">
                <a:solidFill>
                  <a:srgbClr val="526B5C"/>
                </a:solidFill>
              </a:defRPr>
            </a:pPr>
            <a:br/>
            <a:r>
              <a:t>Deeptech Gigahack 2026 • Biomentorhub × Profi Track</a:t>
            </a:r>
          </a:p>
          <a:p>
            <a:pPr algn="ctr">
              <a:defRPr sz="1600" b="1">
                <a:solidFill>
                  <a:srgbClr val="123524"/>
                </a:solidFill>
                <a:latin typeface="Plus Jakarta Sans"/>
              </a:defRPr>
            </a:pPr>
            <a:br/>
            <a:r>
              <a:t>Благодарим за внимание! Готовы ответить на ваши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