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1"/>
          </a:solidFill>
          <a:ln>
            <a:solidFill>
              <a:srgbClr val="0A0E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  <a:latin typeface="JetBrains Mono"/>
              </a:defRPr>
            </a:pPr>
            <a:r>
              <a:t>DEEPTECH GIGAHACK 2026 • BIOMENTORHUB × PROFI TRACK</a:t>
            </a:r>
          </a:p>
          <a:p>
            <a:pPr algn="ctr">
              <a:defRPr sz="4800" b="1">
                <a:solidFill>
                  <a:srgbClr val="FFFFFF"/>
                </a:solidFill>
                <a:latin typeface="Plus Jakarta Sans"/>
              </a:defRPr>
            </a:pPr>
            <a:br/>
            <a:r>
              <a:t>PackShift</a:t>
            </a:r>
          </a:p>
          <a:p>
            <a:pPr algn="ctr">
              <a:defRPr sz="1600" b="1">
                <a:solidFill>
                  <a:srgbClr val="34D399"/>
                </a:solidFill>
                <a:latin typeface="JetBrains Mono"/>
              </a:defRPr>
            </a:pPr>
            <a:r>
              <a:t>0% ПЕРВИЧНОГО ПЛАСТИКА • 100% ЦИРКУЛЯРНОСТЬ</a:t>
            </a:r>
          </a:p>
          <a:p>
            <a:pPr algn="ctr">
              <a:defRPr sz="1500">
                <a:solidFill>
                  <a:srgbClr val="94A3B8"/>
                </a:solidFill>
                <a:latin typeface="Plus Jakarta Sans"/>
              </a:defRPr>
            </a:pPr>
            <a:br/>
            <a:r>
              <a:t>Инженерная система циркулярной пищевой упаковки для сети супермаркетов Profi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4389120"/>
            <a:ext cx="2377440" cy="164592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57200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  <a:latin typeface="JetBrains Mono"/>
              </a:defRPr>
            </a:pPr>
            <a:r>
              <a:t>-88%</a:t>
            </a:r>
          </a:p>
          <a:p>
            <a:pPr algn="ctr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Первичный пластик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4389120"/>
            <a:ext cx="2377440" cy="1645920"/>
          </a:xfrm>
          <a:prstGeom prst="roundRect">
            <a:avLst/>
          </a:prstGeom>
          <a:solidFill>
            <a:srgbClr val="102E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0" y="457200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  <a:latin typeface="JetBrains Mono"/>
              </a:defRPr>
            </a:pPr>
            <a:r>
              <a:t>250°C</a:t>
            </a:r>
          </a:p>
          <a:p>
            <a:pPr algn="ctr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Вызов гриля (Annex)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4389120"/>
            <a:ext cx="2377440" cy="164592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457200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  <a:latin typeface="JetBrains Mono"/>
              </a:defRPr>
            </a:pPr>
            <a:r>
              <a:t>+4 дня</a:t>
            </a:r>
          </a:p>
          <a:p>
            <a:pPr algn="ctr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Свежесть продуктов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4389120"/>
            <a:ext cx="2377440" cy="164592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457200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  <a:latin typeface="JetBrains Mono"/>
              </a:defRPr>
            </a:pPr>
            <a:r>
              <a:t>Class A</a:t>
            </a:r>
          </a:p>
          <a:p>
            <a:pPr algn="ctr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RecyClass &amp; PPWR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1"/>
          </a:solidFill>
          <a:ln>
            <a:solidFill>
              <a:srgbClr val="0A0E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ТЕХНОЛОГИЧЕСКИЙ РАЗРЫВ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036289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Plus Jakarta Sans"/>
              </a:defRPr>
            </a:pPr>
            <a:r>
              <a:t>Традиционная упаковка vs Решение PackShift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JetBrains Mono"/>
              </a:defRPr>
            </a:pPr>
            <a:r>
              <a:t>02 / 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4754880" cy="4572000"/>
          </a:xfrm>
          <a:prstGeom prst="roundRect">
            <a:avLst/>
          </a:prstGeom>
          <a:solidFill>
            <a:srgbClr val="12181D"/>
          </a:solidFill>
          <a:ln w="1905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F4444"/>
                </a:solidFill>
                <a:latin typeface="JetBrains Mono"/>
              </a:defRPr>
            </a:pPr>
            <a:r>
              <a:t>❌ ТРАДИЦИОННАЯ УПАКОВКА (ТУПИК)</a:t>
            </a:r>
          </a:p>
          <a:p>
            <a:br/>
            <a:pPr>
              <a:defRPr b="1" sz="1200">
                <a:solidFill>
                  <a:srgbClr val="FFFFFF"/>
                </a:solidFill>
              </a:defRPr>
            </a:pPr>
            <a:r>
              <a:t>▪ Многослойный ламинат (ПЭ+ALU)</a:t>
            </a:r>
            <a:br/>
            <a:r>
              <a:t>  </a:t>
            </a:r>
            <a:r>
              <a:rPr b="0" sz="1050">
                <a:solidFill>
                  <a:srgbClr val="94A3B8"/>
                </a:solidFill>
              </a:rPr>
              <a:t>Не перерабатывается $_x000D_ightarrow$ штрафы EPR до +45%</a:t>
            </a:r>
          </a:p>
          <a:p>
            <a:br/>
            <a:pPr>
              <a:defRPr b="1" sz="1200">
                <a:solidFill>
                  <a:srgbClr val="FFFFFF"/>
                </a:solidFill>
              </a:defRPr>
            </a:pPr>
            <a:r>
              <a:t>▪ Плавление при 95°C–120°C</a:t>
            </a:r>
            <a:br/>
            <a:r>
              <a:t>  </a:t>
            </a:r>
            <a:r>
              <a:rPr b="0" sz="1050">
                <a:solidFill>
                  <a:srgbClr val="94A3B8"/>
                </a:solidFill>
              </a:rPr>
              <a:t>Течь горячего жира в витрине и запах синтетики</a:t>
            </a:r>
          </a:p>
          <a:p>
            <a:br/>
            <a:pPr>
              <a:defRPr b="1" sz="1200">
                <a:solidFill>
                  <a:srgbClr val="FFFFFF"/>
                </a:solidFill>
              </a:defRPr>
            </a:pPr>
            <a:r>
              <a:t>▪ Токсичные добавки PFAS</a:t>
            </a:r>
            <a:br/>
            <a:r>
              <a:t>  </a:t>
            </a:r>
            <a:r>
              <a:rPr b="0" sz="1050">
                <a:solidFill>
                  <a:srgbClr val="94A3B8"/>
                </a:solidFill>
              </a:rPr>
              <a:t>Миграция опасных фторорганик в пищу при нагреве</a:t>
            </a:r>
          </a:p>
          <a:p>
            <a:br/>
            <a:pPr>
              <a:defRPr b="1" sz="1200">
                <a:solidFill>
                  <a:srgbClr val="FFFFFF"/>
                </a:solidFill>
              </a:defRPr>
            </a:pPr>
            <a:r>
              <a:t>▪ «Парниковый эффект»</a:t>
            </a:r>
            <a:br/>
            <a:r>
              <a:t>  </a:t>
            </a:r>
            <a:r>
              <a:rPr b="0" sz="1050">
                <a:solidFill>
                  <a:srgbClr val="94A3B8"/>
                </a:solidFill>
              </a:rPr>
              <a:t>Пар блокирован: корочка гриля размокает за 40 мин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645920"/>
            <a:ext cx="4754880" cy="4572000"/>
          </a:xfrm>
          <a:prstGeom prst="roundRect">
            <a:avLst/>
          </a:prstGeom>
          <a:solidFill>
            <a:srgbClr val="102E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JetBrains Mono"/>
              </a:defRPr>
            </a:pPr>
            <a:r>
              <a:t>✔ ИННОВАЦИЯ PACKSHIFT DEEPTECH</a:t>
            </a:r>
          </a:p>
          <a:p>
            <a:br/>
            <a:pPr>
              <a:defRPr b="1" sz="1200">
                <a:solidFill>
                  <a:srgbClr val="34D399"/>
                </a:solidFill>
              </a:defRPr>
            </a:pPr>
            <a:r>
              <a:t>✔ 100% моно-материал rPET</a:t>
            </a:r>
            <a:br/>
            <a:r>
              <a:t>  </a:t>
            </a:r>
            <a:r>
              <a:rPr b="0" sz="1050">
                <a:solidFill>
                  <a:srgbClr val="FFFFFF"/>
                </a:solidFill>
              </a:rPr>
              <a:t>RecyClass Class A $_x000D_ightarrow$ прямое освобождение от EPR-налога</a:t>
            </a:r>
          </a:p>
          <a:p>
            <a:br/>
            <a:pPr>
              <a:defRPr b="1" sz="1200">
                <a:solidFill>
                  <a:srgbClr val="34D399"/>
                </a:solidFill>
              </a:defRPr>
            </a:pPr>
            <a:r>
              <a:t>✔ Стойкость до 250°C (Dual-Oven)</a:t>
            </a:r>
            <a:br/>
            <a:r>
              <a:t>  </a:t>
            </a:r>
            <a:r>
              <a:rPr b="0" sz="1050">
                <a:solidFill>
                  <a:srgbClr val="FFFFFF"/>
                </a:solidFill>
              </a:rPr>
              <a:t>Более 6 часов в витрине при 95°C без усадки и дефектов</a:t>
            </a:r>
          </a:p>
          <a:p>
            <a:br/>
            <a:pPr>
              <a:defRPr b="1" sz="1200">
                <a:solidFill>
                  <a:srgbClr val="34D399"/>
                </a:solidFill>
              </a:defRPr>
            </a:pPr>
            <a:r>
              <a:t>✔ 100% PFAS-Free барьер Kit 12</a:t>
            </a:r>
            <a:br/>
            <a:r>
              <a:t>  </a:t>
            </a:r>
            <a:r>
              <a:rPr b="0" sz="1050">
                <a:solidFill>
                  <a:srgbClr val="FFFFFF"/>
                </a:solidFill>
              </a:rPr>
              <a:t>Водная нано-дисперсия альгината водорослей и хитозана</a:t>
            </a:r>
          </a:p>
          <a:p>
            <a:br/>
            <a:pPr>
              <a:defRPr b="1" sz="1200">
                <a:solidFill>
                  <a:srgbClr val="34D399"/>
                </a:solidFill>
              </a:defRPr>
            </a:pPr>
            <a:r>
              <a:t>✔ Дышащая микропористая мембрана</a:t>
            </a:r>
            <a:br/>
            <a:r>
              <a:t>  </a:t>
            </a:r>
            <a:r>
              <a:rPr b="0" sz="1050">
                <a:solidFill>
                  <a:srgbClr val="FFFFFF"/>
                </a:solidFill>
              </a:rPr>
              <a:t>Отводит лишний пар, сохраняя корочку гриля хрустящей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1"/>
          </a:solidFill>
          <a:ln>
            <a:solidFill>
              <a:srgbClr val="0A0E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СПЕЦИАЛЬНЫЙ ВЫЗОВ ХАКАТОНА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036289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Plus Jakarta Sans"/>
              </a:defRPr>
            </a:pPr>
            <a:r>
              <a:t>Материаловедение: 2 решения для витрин гриля (250°C)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JetBrains Mono"/>
              </a:defRPr>
            </a:pPr>
            <a:r>
              <a:t>03 / 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4846320" cy="4572000"/>
          </a:xfrm>
          <a:prstGeom prst="roundRect">
            <a:avLst/>
          </a:prstGeom>
          <a:solidFill>
            <a:srgbClr val="102E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4480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РЕШЕНИЕ А: МОНО-ПАКЕТ</a:t>
            </a:r>
          </a:p>
          <a:p>
            <a:pPr>
              <a:defRPr sz="2200" b="1">
                <a:solidFill>
                  <a:srgbClr val="FFFFFF"/>
                </a:solidFill>
                <a:latin typeface="Plus Jakarta Sans"/>
              </a:defRPr>
            </a:pPr>
            <a:r>
              <a:t>CPET Ultra-Flex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✔ Диапазон от -40°C до +250°C (Dual-Ovenable)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✔ Кристалличность rPET &gt; 38% держит форму 6+ часов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✔ 100% жиробарьер Kit Test 12 без PFAS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✔ 100% вторичная переработка в поток ПЭТ-бутылок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✔ Себестоимость: -14% vs импортный ламинат с фольгой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4846320" cy="4572000"/>
          </a:xfrm>
          <a:prstGeom prst="roundRect">
            <a:avLst/>
          </a:prstGeom>
          <a:solidFill>
            <a:srgbClr val="12181D"/>
          </a:solidFill>
          <a:ln w="1905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480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РЕШЕНИЕ Б: БИО-КОМПОЗИТ</a:t>
            </a:r>
          </a:p>
          <a:p>
            <a:pPr>
              <a:defRPr sz="2200" b="1">
                <a:solidFill>
                  <a:srgbClr val="FFFFFF"/>
                </a:solidFill>
                <a:latin typeface="Plus Jakarta Sans"/>
              </a:defRPr>
            </a:pPr>
            <a:r>
              <a:t>LignoShield™ BioBox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✔ 100% формованная багасса сахарного тростника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✔ Водный нано-барьер из морских водорослей и хитозана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✔ Микропористая мембрана отводит пар (хруст корочки)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✔ Термостойкость до 220°C, 6 часов в витрине гриля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✔ Домашний компост за 60 дней (OK Compost HOME)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1"/>
          </a:solidFill>
          <a:ln>
            <a:solidFill>
              <a:srgbClr val="0A0E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АРХИТЕКТУРА РЕШЕНИЙ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036289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Plus Jakarta Sans"/>
              </a:defRPr>
            </a:pPr>
            <a:r>
              <a:t>Оптимизация 4 зон супермаркета сети Profi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JetBrains Mono"/>
              </a:defRPr>
            </a:pPr>
            <a:r>
              <a:t>04 / 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2423160" cy="448056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74520"/>
            <a:ext cx="220370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🍗 Кулинария (Гриль)</a:t>
            </a:r>
          </a:p>
          <a:p>
            <a:pPr algn="ctr">
              <a:defRPr sz="1400" b="1">
                <a:solidFill>
                  <a:srgbClr val="34D399"/>
                </a:solidFill>
                <a:latin typeface="JetBrains Mono"/>
              </a:defRPr>
            </a:pPr>
            <a:r>
              <a:t>CPET Ultra-Flex</a:t>
            </a:r>
          </a:p>
          <a:p>
            <a:pPr algn="ctr">
              <a:defRPr sz="2200" b="1">
                <a:solidFill>
                  <a:srgbClr val="34D399"/>
                </a:solidFill>
                <a:latin typeface="JetBrains Mono"/>
              </a:defRPr>
            </a:pPr>
            <a:br/>
            <a:r>
              <a:t>250°C</a:t>
            </a:r>
            <a:br/>
          </a:p>
          <a:p>
            <a:pPr algn="ctr"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Выдержка 6ч в витрине, 100% rPET, Kit 12 без PFAS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57016" y="1645920"/>
            <a:ext cx="2423160" cy="448056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66744" y="1874520"/>
            <a:ext cx="220370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🥬 Свежие Овощи</a:t>
            </a:r>
          </a:p>
          <a:p>
            <a:pPr algn="ctr">
              <a:defRPr sz="1400" b="1">
                <a:solidFill>
                  <a:srgbClr val="34D399"/>
                </a:solidFill>
                <a:latin typeface="JetBrains Mono"/>
              </a:defRPr>
            </a:pPr>
            <a:r>
              <a:t>EMAP Laser™</a:t>
            </a:r>
          </a:p>
          <a:p>
            <a:pPr algn="ctr">
              <a:defRPr sz="2200" b="1">
                <a:solidFill>
                  <a:srgbClr val="34D399"/>
                </a:solidFill>
                <a:latin typeface="JetBrains Mono"/>
              </a:defRPr>
            </a:pPr>
            <a:br/>
            <a:r>
              <a:t>+4 Дня</a:t>
            </a:r>
            <a:br/>
          </a:p>
          <a:p>
            <a:pPr algn="ctr"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Лазерная микроперфорация O₂/CO₂, -32% списаний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45920"/>
            <a:ext cx="2423160" cy="448056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874520"/>
            <a:ext cx="220370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🥩 Мясной Отдел</a:t>
            </a:r>
          </a:p>
          <a:p>
            <a:pPr algn="ctr">
              <a:defRPr sz="1400" b="1">
                <a:solidFill>
                  <a:srgbClr val="34D399"/>
                </a:solidFill>
                <a:latin typeface="JetBrains Mono"/>
              </a:defRPr>
            </a:pPr>
            <a:r>
              <a:t>Capillary Tray</a:t>
            </a:r>
          </a:p>
          <a:p>
            <a:pPr algn="ctr">
              <a:defRPr sz="2200" b="1">
                <a:solidFill>
                  <a:srgbClr val="34D399"/>
                </a:solidFill>
                <a:latin typeface="JetBrains Mono"/>
              </a:defRPr>
            </a:pPr>
            <a:br/>
            <a:r>
              <a:t>0 Салфеток</a:t>
            </a:r>
            <a:br/>
          </a:p>
          <a:p>
            <a:pPr algn="ctr"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Капиллярный замок экссудата на 45 мл, чистый рециклинг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42248" y="1645920"/>
            <a:ext cx="2423160" cy="448056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51976" y="1874520"/>
            <a:ext cx="220370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🥐 Пекарня</a:t>
            </a:r>
          </a:p>
          <a:p>
            <a:pPr algn="ctr">
              <a:defRPr sz="1400" b="1">
                <a:solidFill>
                  <a:srgbClr val="34D399"/>
                </a:solidFill>
                <a:latin typeface="JetBrains Mono"/>
              </a:defRPr>
            </a:pPr>
            <a:r>
              <a:t>NatureVent™</a:t>
            </a:r>
          </a:p>
          <a:p>
            <a:pPr algn="ctr">
              <a:defRPr sz="2200" b="1">
                <a:solidFill>
                  <a:srgbClr val="34D399"/>
                </a:solidFill>
                <a:latin typeface="JetBrains Mono"/>
              </a:defRPr>
            </a:pPr>
            <a:br/>
            <a:r>
              <a:t>Pulpable</a:t>
            </a:r>
            <a:br/>
          </a:p>
          <a:p>
            <a:pPr algn="ctr"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Крафт FSC + целлюлозное био-окно NatureFlex™, тест CEPI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1"/>
          </a:solidFill>
          <a:ln>
            <a:solidFill>
              <a:srgbClr val="0A0E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БИЗНЕС-КЕЙС ДЛЯ PROFI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036289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Plus Jakarta Sans"/>
              </a:defRPr>
            </a:pPr>
            <a:r>
              <a:t>Экономический эффект на масштабе 100 магазинов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JetBrains Mono"/>
              </a:defRPr>
            </a:pPr>
            <a:r>
              <a:t>05 / 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2423160" cy="292608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28800"/>
            <a:ext cx="220370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  <a:latin typeface="JetBrains Mono"/>
              </a:defRPr>
            </a:pPr>
            <a:r>
              <a:t>1 840 т</a:t>
            </a:r>
          </a:p>
          <a:p>
            <a:pPr algn="ctr">
              <a:defRPr sz="1350" b="1">
                <a:solidFill>
                  <a:srgbClr val="FFFFFF"/>
                </a:solidFill>
                <a:latin typeface="Plus Jakarta Sans"/>
              </a:defRPr>
            </a:pPr>
            <a:r>
              <a:t>Первичный пластик</a:t>
            </a:r>
          </a:p>
          <a:p>
            <a:pPr algn="ctr">
              <a:defRPr sz="1050">
                <a:solidFill>
                  <a:srgbClr val="94A3B8"/>
                </a:solidFill>
                <a:latin typeface="Plus Jakarta Sans"/>
              </a:defRPr>
            </a:pPr>
            <a:br/>
            <a:r>
              <a:t>Тонн первичных полимеров замещено в год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57016" y="1645920"/>
            <a:ext cx="2423160" cy="292608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220370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  <a:latin typeface="JetBrains Mono"/>
              </a:defRPr>
            </a:pPr>
            <a:r>
              <a:t>4 250 т</a:t>
            </a:r>
          </a:p>
          <a:p>
            <a:pPr algn="ctr">
              <a:defRPr sz="1350" b="1">
                <a:solidFill>
                  <a:srgbClr val="FFFFFF"/>
                </a:solidFill>
                <a:latin typeface="Plus Jakarta Sans"/>
              </a:defRPr>
            </a:pPr>
            <a:r>
              <a:t>Выбросы CO₂e</a:t>
            </a:r>
          </a:p>
          <a:p>
            <a:pPr algn="ctr">
              <a:defRPr sz="1050">
                <a:solidFill>
                  <a:srgbClr val="94A3B8"/>
                </a:solidFill>
                <a:latin typeface="Plus Jakarta Sans"/>
              </a:defRPr>
            </a:pPr>
            <a:br/>
            <a:r>
              <a:t>Предотвращено парниковых газов Scope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45920"/>
            <a:ext cx="2423160" cy="2926080"/>
          </a:xfrm>
          <a:prstGeom prst="roundRect">
            <a:avLst/>
          </a:prstGeom>
          <a:solidFill>
            <a:srgbClr val="102E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828800"/>
            <a:ext cx="220370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  <a:latin typeface="JetBrains Mono"/>
              </a:defRPr>
            </a:pPr>
            <a:r>
              <a:t>€1.28M</a:t>
            </a:r>
          </a:p>
          <a:p>
            <a:pPr algn="ctr">
              <a:defRPr sz="1350" b="1">
                <a:solidFill>
                  <a:srgbClr val="FFFFFF"/>
                </a:solidFill>
                <a:latin typeface="Plus Jakarta Sans"/>
              </a:defRPr>
            </a:pPr>
            <a:r>
              <a:t>Экономия на EPR</a:t>
            </a:r>
          </a:p>
          <a:p>
            <a:pPr algn="ctr">
              <a:defRPr sz="1050">
                <a:solidFill>
                  <a:srgbClr val="94A3B8"/>
                </a:solidFill>
                <a:latin typeface="Plus Jakarta Sans"/>
              </a:defRPr>
            </a:pPr>
            <a:br/>
            <a:r>
              <a:t>Прямая годовая экономия на эко-сборах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42248" y="1645920"/>
            <a:ext cx="2423160" cy="292608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51976" y="1828800"/>
            <a:ext cx="220370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  <a:latin typeface="JetBrains Mono"/>
              </a:defRPr>
            </a:pPr>
            <a:r>
              <a:t>€700K</a:t>
            </a:r>
          </a:p>
          <a:p>
            <a:pPr algn="ctr">
              <a:defRPr sz="1350" b="1">
                <a:solidFill>
                  <a:srgbClr val="FFFFFF"/>
                </a:solidFill>
                <a:latin typeface="Plus Jakarta Sans"/>
              </a:defRPr>
            </a:pPr>
            <a:r>
              <a:t>Снижение списаний</a:t>
            </a:r>
          </a:p>
          <a:p>
            <a:pPr algn="ctr">
              <a:defRPr sz="1050">
                <a:solidFill>
                  <a:srgbClr val="94A3B8"/>
                </a:solidFill>
                <a:latin typeface="Plus Jakarta Sans"/>
              </a:defRPr>
            </a:pPr>
            <a:br/>
            <a:r>
              <a:t>Сбереженная продукция (+4 дня свежести)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846320"/>
            <a:ext cx="10362895" cy="1280160"/>
          </a:xfrm>
          <a:prstGeom prst="roundRect">
            <a:avLst/>
          </a:prstGeom>
          <a:solidFill>
            <a:srgbClr val="102E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8348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4D399"/>
                </a:solidFill>
                <a:latin typeface="JetBrains Mono"/>
              </a:defRPr>
            </a:pPr>
            <a:r>
              <a:t>⚡ НУЛЕВОЙ CAPEX (DROP-IN COMPATIBILITY):</a:t>
            </a:r>
          </a:p>
          <a:p>
            <a:pPr algn="ctr">
              <a:defRPr sz="1200">
                <a:solidFill>
                  <a:srgbClr val="FFFFFF"/>
                </a:solidFill>
                <a:latin typeface="Plus Jakarta Sans"/>
              </a:defRPr>
            </a:pPr>
            <a:r>
              <a:t>100% совместимость со стандартными запайщиками и тепловыми витринами Profi. Себестоимость моно-пакетов CPET на 14% ниже импортных многослойных ламинатов с фольгой.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1"/>
          </a:solidFill>
          <a:ln>
            <a:solidFill>
              <a:srgbClr val="0A0E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РЕГУЛЯТОРНЫЙ ЩИТ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036289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Plus Jakarta Sans"/>
              </a:defRPr>
            </a:pPr>
            <a:r>
              <a:t>Международные стандарты безопасности и рециклинга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JetBrains Mono"/>
              </a:defRPr>
            </a:pPr>
            <a:r>
              <a:t>06 / 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2423160" cy="448056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920240"/>
            <a:ext cx="220370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RECYCLING</a:t>
            </a:r>
          </a:p>
          <a:p>
            <a:pPr algn="ctr">
              <a:defRPr sz="2000" b="1">
                <a:solidFill>
                  <a:srgbClr val="FFFFFF"/>
                </a:solidFill>
                <a:latin typeface="Plus Jakarta Sans"/>
              </a:defRPr>
            </a:pPr>
            <a:br/>
            <a:r>
              <a:t>RecyClass A</a:t>
            </a:r>
            <a:br/>
          </a:p>
          <a:p>
            <a:pPr algn="ctr">
              <a:defRPr sz="1150">
                <a:solidFill>
                  <a:srgbClr val="94A3B8"/>
                </a:solidFill>
                <a:latin typeface="Plus Jakarta Sans"/>
              </a:defRPr>
            </a:pPr>
            <a:r>
              <a:t>Высший класс сортировки. Совместимость с NIR-сепараторами и механическим рециклингом в ЕС.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57016" y="1645920"/>
            <a:ext cx="2423160" cy="448056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66744" y="1920240"/>
            <a:ext cx="220370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REGULATION</a:t>
            </a:r>
          </a:p>
          <a:p>
            <a:pPr algn="ctr">
              <a:defRPr sz="2000" b="1">
                <a:solidFill>
                  <a:srgbClr val="FFFFFF"/>
                </a:solidFill>
                <a:latin typeface="Plus Jakarta Sans"/>
              </a:defRPr>
            </a:pPr>
            <a:br/>
            <a:r>
              <a:t>PPWR 2030</a:t>
            </a:r>
            <a:br/>
          </a:p>
          <a:p>
            <a:pPr algn="ctr">
              <a:defRPr sz="1150">
                <a:solidFill>
                  <a:srgbClr val="94A3B8"/>
                </a:solidFill>
                <a:latin typeface="Plus Jakarta Sans"/>
              </a:defRPr>
            </a:pPr>
            <a:r>
              <a:t>Упреждение европейских норм: &gt;35% пищевого rPET, 0% первичного пластика в фасовке.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45920"/>
            <a:ext cx="2423160" cy="448056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920240"/>
            <a:ext cx="220370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CHEMICAL SAFETY</a:t>
            </a:r>
          </a:p>
          <a:p>
            <a:pPr algn="ctr">
              <a:defRPr sz="2000" b="1">
                <a:solidFill>
                  <a:srgbClr val="FFFFFF"/>
                </a:solidFill>
                <a:latin typeface="Plus Jakarta Sans"/>
              </a:defRPr>
            </a:pPr>
            <a:br/>
            <a:r>
              <a:t>Zero PFAS</a:t>
            </a:r>
            <a:br/>
          </a:p>
          <a:p>
            <a:pPr algn="ctr">
              <a:defRPr sz="1150">
                <a:solidFill>
                  <a:srgbClr val="94A3B8"/>
                </a:solidFill>
                <a:latin typeface="Plus Jakarta Sans"/>
              </a:defRPr>
            </a:pPr>
            <a:r>
              <a:t>100% PFAS-Free. Лабораторный тест на отсутствие фторорганики в контакте до 250°C.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42248" y="1645920"/>
            <a:ext cx="2423160" cy="448056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51976" y="1920240"/>
            <a:ext cx="220370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FOOD CONTACT</a:t>
            </a:r>
          </a:p>
          <a:p>
            <a:pPr algn="ctr">
              <a:defRPr sz="2000" b="1">
                <a:solidFill>
                  <a:srgbClr val="FFFFFF"/>
                </a:solidFill>
                <a:latin typeface="Plus Jakarta Sans"/>
              </a:defRPr>
            </a:pPr>
            <a:br/>
            <a:r>
              <a:t>EFSA / FDA</a:t>
            </a:r>
            <a:br/>
          </a:p>
          <a:p>
            <a:pPr algn="ctr">
              <a:defRPr sz="1150">
                <a:solidFill>
                  <a:srgbClr val="94A3B8"/>
                </a:solidFill>
                <a:latin typeface="Plus Jakarta Sans"/>
              </a:defRPr>
            </a:pPr>
            <a:r>
              <a:t>Сертификация Regulation EU No 10/2011 для прямого контакта с горячим жиром.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1"/>
          </a:solidFill>
          <a:ln>
            <a:solidFill>
              <a:srgbClr val="0A0E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ДОРОЖНАЯ КАРТА ВНЕДРЕНИЯ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036289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Plus Jakarta Sans"/>
              </a:defRPr>
            </a:pPr>
            <a:r>
              <a:t>План пилотного запуска в Profi: 6 недель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JetBrains Mono"/>
              </a:defRPr>
            </a:pPr>
            <a:r>
              <a:t>07 / 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3291840" cy="2926080"/>
          </a:xfrm>
          <a:prstGeom prst="roundRect">
            <a:avLst/>
          </a:prstGeom>
          <a:solidFill>
            <a:srgbClr val="102E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7452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ЭТАП 1 • 2 НЕДЕЛИ</a:t>
            </a:r>
          </a:p>
          <a:p>
            <a:pPr algn="ctr">
              <a:defRPr sz="1800" b="1">
                <a:solidFill>
                  <a:srgbClr val="FFFFFF"/>
                </a:solidFill>
                <a:latin typeface="Plus Jakarta Sans"/>
              </a:defRPr>
            </a:pPr>
            <a:br/>
            <a:r>
              <a:t>Лабораторный тест</a:t>
            </a:r>
            <a:br/>
          </a:p>
          <a:p>
            <a:pPr algn="ctr">
              <a:defRPr sz="1150">
                <a:solidFill>
                  <a:srgbClr val="94A3B8"/>
                </a:solidFill>
                <a:latin typeface="Plus Jakarta Sans"/>
              </a:defRPr>
            </a:pPr>
            <a:r>
              <a:t>Тест пакетов CPET и боксов при 95°C–120°C (6 часов). Проверка удержания жира Kit 12 и протокол EFSA.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3984" y="1645920"/>
            <a:ext cx="3291840" cy="292608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187452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ЭТАП 2 • 4 НЕДЕЛИ</a:t>
            </a:r>
          </a:p>
          <a:p>
            <a:pPr algn="ctr">
              <a:defRPr sz="1800" b="1">
                <a:solidFill>
                  <a:srgbClr val="FFFFFF"/>
                </a:solidFill>
                <a:latin typeface="Plus Jakarta Sans"/>
              </a:defRPr>
            </a:pPr>
            <a:br/>
            <a:r>
              <a:t>Пилот в 5 магазинах</a:t>
            </a:r>
            <a:br/>
          </a:p>
          <a:p>
            <a:pPr algn="ctr">
              <a:defRPr sz="1150">
                <a:solidFill>
                  <a:srgbClr val="94A3B8"/>
                </a:solidFill>
                <a:latin typeface="Plus Jakarta Sans"/>
              </a:defRPr>
            </a:pPr>
            <a:r>
              <a:t>Полевое тестирование в отделах Гриль и Овощи. Сбор отзывов поваров кулинарии и покупателей сети.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73568" y="1645920"/>
            <a:ext cx="3291840" cy="292608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0728" y="187452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ЭТАП 3 • КВАРТАЛ 2</a:t>
            </a:r>
          </a:p>
          <a:p>
            <a:pPr algn="ctr">
              <a:defRPr sz="1800" b="1">
                <a:solidFill>
                  <a:srgbClr val="FFFFFF"/>
                </a:solidFill>
                <a:latin typeface="Plus Jakarta Sans"/>
              </a:defRPr>
            </a:pPr>
            <a:br/>
            <a:r>
              <a:t>Масштабирование</a:t>
            </a:r>
            <a:br/>
          </a:p>
          <a:p>
            <a:pPr algn="ctr">
              <a:defRPr sz="1150">
                <a:solidFill>
                  <a:srgbClr val="94A3B8"/>
                </a:solidFill>
                <a:latin typeface="Plus Jakarta Sans"/>
              </a:defRPr>
            </a:pPr>
            <a:r>
              <a:t>Развертывание в сети Profi, подключение автоматического дашборда учета сокращения Scope 3 выбросов.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846320"/>
            <a:ext cx="10362895" cy="1280160"/>
          </a:xfrm>
          <a:prstGeom prst="roundRect">
            <a:avLst/>
          </a:prstGeom>
          <a:solidFill>
            <a:srgbClr val="102E2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98348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4D399"/>
                </a:solidFill>
                <a:latin typeface="JetBrains Mono"/>
              </a:defRPr>
            </a:pPr>
            <a:r>
              <a:t>📦 ПАРТИЯ ИЗ 200 ОБРАЗЦОВ ГОТОВА К ПЕРЕДАЧЕ PROFI</a:t>
            </a:r>
          </a:p>
          <a:p>
            <a:pPr algn="ctr">
              <a:defRPr sz="1200">
                <a:solidFill>
                  <a:srgbClr val="FFFFFF"/>
                </a:solidFill>
                <a:latin typeface="Plus Jakarta Sans"/>
              </a:defRPr>
            </a:pPr>
            <a:r>
              <a:t>Комплект пакетов CPET Ultra-Flex и термобоксов LignoShield подготовлен к испытаниям на тепловых витринах сети Profi.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1"/>
          </a:solidFill>
          <a:ln>
            <a:solidFill>
              <a:srgbClr val="0A0E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2181D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371600"/>
            <a:ext cx="88998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  <a:latin typeface="JetBrains Mono"/>
              </a:defRPr>
            </a:pPr>
            <a:r>
              <a:t>DEEPTECH GIGAHACK 2026 • BIOMENTORHUB × PROFI</a:t>
            </a:r>
          </a:p>
          <a:p>
            <a:pPr algn="ctr">
              <a:defRPr sz="3200" b="1">
                <a:solidFill>
                  <a:srgbClr val="FFFFFF"/>
                </a:solidFill>
                <a:latin typeface="Plus Jakarta Sans"/>
              </a:defRPr>
            </a:pPr>
            <a:br/>
            <a:r>
              <a:t>Делаем циркулярность прибыльной для Profi уже сегодня</a:t>
            </a:r>
          </a:p>
          <a:p>
            <a:pPr algn="ctr">
              <a:defRPr sz="1500" b="1">
                <a:solidFill>
                  <a:srgbClr val="34D399"/>
                </a:solidFill>
                <a:latin typeface="JetBrains Mono"/>
              </a:defRPr>
            </a:pPr>
            <a:r>
              <a:t>0% первичного пластика • -14% себестоимость • Нулевой CapEx</a:t>
            </a:r>
          </a:p>
          <a:p>
            <a:pPr algn="ctr">
              <a:defRPr sz="1350">
                <a:solidFill>
                  <a:srgbClr val="94A3B8"/>
                </a:solidFill>
                <a:latin typeface="Plus Jakarta Sans"/>
              </a:defRPr>
            </a:pPr>
            <a:br/>
            <a:r>
              <a:t>PackShift позволяет сети Profi закрыть норматив EU PPWR 2030, защитить маржинальность кулинарии и гарантировать пищевую безопасность покупателей.</a:t>
            </a:r>
          </a:p>
          <a:p>
            <a:pPr algn="ctr">
              <a:defRPr sz="1800" b="1">
                <a:solidFill>
                  <a:srgbClr val="FFFFFF"/>
                </a:solidFill>
                <a:latin typeface="Plus Jakarta Sans"/>
              </a:defRPr>
            </a:pPr>
            <a:br/>
            <a:br/>
            <a:r>
              <a:t>Благодарим за внимание! Готовы ответить на ваши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