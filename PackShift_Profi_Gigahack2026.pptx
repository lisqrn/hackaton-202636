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914400"/>
            <a:ext cx="5303520" cy="41148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  <a:latin typeface="Plus Jakarta Sans"/>
              </a:defRPr>
            </a:pPr>
            <a:r>
              <a:t>🌱 DEEPTECH GIGAHACK 2026 • BIOMENTORHUB × PROFI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822960"/>
            <a:ext cx="2194560" cy="82296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896112"/>
            <a:ext cx="192024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PackShift: Революция пищевой упаковки ритейла</a:t>
            </a:r>
          </a:p>
          <a:p>
            <a:pPr>
              <a:defRPr sz="2000" b="1">
                <a:solidFill>
                  <a:srgbClr val="22C55E"/>
                </a:solidFill>
                <a:latin typeface="Plus Jakarta Sans"/>
              </a:defRPr>
            </a:pPr>
            <a:r>
              <a:t>0% первичного пластика • Термостойкость до 250°C • EU PPWR 2030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AF4E4"/>
                </a:solidFill>
                <a:latin typeface="Plus Jakarta Sans"/>
              </a:defRPr>
            </a:pPr>
            <a:r>
              <a:t>Инженерная система циркулярной упаковки для сети супермаркетов Profi. Биомиметические барьеры против жира, полное устранение токсичных PFAS и прямое снижение экологического сбора ритейлера (EPR Tax) без капитальных затрат (CapEx = 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2468880" cy="164592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JetBrains Mono"/>
              </a:defRPr>
            </a:pPr>
            <a:r>
              <a:t>-88%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Первичный пластик</a:t>
            </a:r>
          </a:p>
          <a:p>
            <a:pPr>
              <a:defRPr sz="1000">
                <a:solidFill>
                  <a:srgbClr val="FAF4E4"/>
                </a:solidFill>
                <a:latin typeface="Plus Jakarta Sans"/>
              </a:defRPr>
            </a:pPr>
            <a:r>
              <a:t>Замена на rPET и биополимеры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480560"/>
            <a:ext cx="2468880" cy="1645920"/>
          </a:xfrm>
          <a:prstGeom prst="roundRect">
            <a:avLst/>
          </a:prstGeom>
          <a:solidFill>
            <a:srgbClr val="153E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JetBrains Mono"/>
              </a:defRPr>
            </a:pPr>
            <a:r>
              <a:t>250°C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Вызов гриля</a:t>
            </a:r>
          </a:p>
          <a:p>
            <a:pPr>
              <a:defRPr sz="1000">
                <a:solidFill>
                  <a:srgbClr val="FAF4E4"/>
                </a:solidFill>
                <a:latin typeface="Plus Jakarta Sans"/>
              </a:defRPr>
            </a:pPr>
            <a:r>
              <a:t>До 6ч в витрине без протечек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80560"/>
            <a:ext cx="2468880" cy="164592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JetBrains Mono"/>
              </a:defRPr>
            </a:pPr>
            <a:r>
              <a:t>+4 дня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Свежесть продуктов</a:t>
            </a:r>
          </a:p>
          <a:p>
            <a:pPr>
              <a:defRPr sz="1000">
                <a:solidFill>
                  <a:srgbClr val="FAF4E4"/>
                </a:solidFill>
                <a:latin typeface="Plus Jakarta Sans"/>
              </a:defRPr>
            </a:pPr>
            <a:r>
              <a:t>Лазерная микроперфорация EMAP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4480560"/>
            <a:ext cx="2468880" cy="164592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46177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  <a:latin typeface="JetBrains Mono"/>
              </a:defRPr>
            </a:pPr>
            <a:r>
              <a:t>Class A</a:t>
            </a:r>
          </a:p>
          <a:p>
            <a:pPr>
              <a:defRPr sz="1300" b="1">
                <a:solidFill>
                  <a:srgbClr val="FFFFFF"/>
                </a:solidFill>
                <a:latin typeface="Plus Jakarta Sans"/>
              </a:defRPr>
            </a:pPr>
            <a:r>
              <a:t>RecyClass &amp; PPWR</a:t>
            </a:r>
          </a:p>
          <a:p>
            <a:pPr>
              <a:defRPr sz="1000">
                <a:solidFill>
                  <a:srgbClr val="FAF4E4"/>
                </a:solidFill>
                <a:latin typeface="Plus Jakarta Sans"/>
              </a:defRPr>
            </a:pPr>
            <a:r>
              <a:t>100% моно-материалы в сортировку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4"/>
          </a:solidFill>
          <a:ln>
            <a:solidFill>
              <a:srgbClr val="FA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DEEPTECH GIGAHACK 2026 • BIOMENTORHUB × PROFI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524"/>
                </a:solidFill>
                <a:latin typeface="Plus Jakarta Sans"/>
              </a:defRPr>
            </a:pPr>
            <a:r>
              <a:t>Двойной вызов ритейла: Регуляторный капкан и боль витрины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11480"/>
            <a:ext cx="1828800" cy="6858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75488"/>
            <a:ext cx="164592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⚖️ 1. Регуляторное и налоговое давление</a:t>
            </a:r>
          </a:p>
          <a:p>
            <a:pPr>
              <a:defRPr b="1" sz="1200">
                <a:solidFill>
                  <a:srgbClr val="123524"/>
                </a:solidFill>
              </a:defRPr>
            </a:pPr>
            <a:r>
              <a:t>• Директива EU PPWR 2030: </a:t>
            </a:r>
            <a:r>
              <a:rPr b="0">
                <a:solidFill>
                  <a:srgbClr val="526B5C"/>
                </a:solidFill>
              </a:rPr>
              <a:t>Запрет многослойных неперерабатываемых полимеров. Штрафы ритейлерам за превышение квот первичного пластика.</a:t>
            </a:r>
          </a:p>
          <a:p>
            <a:pPr>
              <a:defRPr b="1" sz="1200">
                <a:solidFill>
                  <a:srgbClr val="123524"/>
                </a:solidFill>
              </a:defRPr>
            </a:pPr>
            <a:r>
              <a:t>• Экологический сбор (EPR Tax): </a:t>
            </a:r>
            <a:r>
              <a:rPr b="0">
                <a:solidFill>
                  <a:srgbClr val="526B5C"/>
                </a:solidFill>
              </a:rPr>
              <a:t>Налог на комбинированные ламинаты (ПЭ+фольга) вырос на 45%. Трудная упаковка становится прямым убытком.</a:t>
            </a:r>
          </a:p>
          <a:p>
            <a:pPr>
              <a:defRPr b="1" sz="1200">
                <a:solidFill>
                  <a:srgbClr val="123524"/>
                </a:solidFill>
              </a:defRPr>
            </a:pPr>
            <a:r>
              <a:t>• Запрет PFAS (вечные токсины): </a:t>
            </a:r>
            <a:r>
              <a:rPr b="0">
                <a:solidFill>
                  <a:srgbClr val="526B5C"/>
                </a:solidFill>
              </a:rPr>
              <a:t>Европейские регуляторы вводят полный бан на фторированные гидрофобизаторы в пищевом контакте.</a:t>
            </a:r>
          </a:p>
          <a:p>
            <a:pPr>
              <a:defRPr b="1" sz="1200">
                <a:solidFill>
                  <a:srgbClr val="123524"/>
                </a:solidFill>
              </a:defRPr>
            </a:pPr>
            <a:r>
              <a:t>• CSRD отчетность Scope 3: </a:t>
            </a:r>
            <a:r>
              <a:rPr b="0">
                <a:solidFill>
                  <a:srgbClr val="526B5C"/>
                </a:solidFill>
              </a:rPr>
              <a:t>Сеть Profi обязана публично декларировать и сокращать углеродный след упаковки по всей цепочке.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2352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Plus Jakarta Sans"/>
              </a:defRPr>
            </a:pPr>
            <a:r>
              <a:t>🔥 2. Острая боль: Отдел гриля и кулинарии</a:t>
            </a:r>
          </a:p>
          <a:p>
            <a:pPr>
              <a:defRPr b="1" sz="1200">
                <a:solidFill>
                  <a:srgbClr val="22C55E"/>
                </a:solidFill>
              </a:defRPr>
            </a:pPr>
            <a:r>
              <a:t>• Экстремальный режим: </a:t>
            </a:r>
            <a:r>
              <a:rPr b="0">
                <a:solidFill>
                  <a:srgbClr val="FAF4E4"/>
                </a:solidFill>
              </a:rPr>
              <a:t>Выдержка в витрине при 85°C – 120°C до 6 часов. Пиковые температуры фасовки достигают 180°C – 250°C.</a:t>
            </a:r>
          </a:p>
          <a:p>
            <a:pPr>
              <a:defRPr b="1" sz="1200">
                <a:solidFill>
                  <a:srgbClr val="22C55E"/>
                </a:solidFill>
              </a:defRPr>
            </a:pPr>
            <a:r>
              <a:t>• Дефекты текущей упаковки: </a:t>
            </a:r>
            <a:r>
              <a:rPr b="0">
                <a:solidFill>
                  <a:srgbClr val="FAF4E4"/>
                </a:solidFill>
              </a:rPr>
              <a:t>Полиэтиленовые пакеты с фольгой размягчаются, деформируются, текут и выделяют запах нагретого полимера.</a:t>
            </a:r>
          </a:p>
          <a:p>
            <a:pPr>
              <a:defRPr b="1" sz="1200">
                <a:solidFill>
                  <a:srgbClr val="22C55E"/>
                </a:solidFill>
              </a:defRPr>
            </a:pPr>
            <a:r>
              <a:t>• Эффект «парника»: </a:t>
            </a:r>
            <a:r>
              <a:rPr b="0">
                <a:solidFill>
                  <a:srgbClr val="FAF4E4"/>
                </a:solidFill>
              </a:rPr>
              <a:t>Пар блокируется внутри пакета, размачивая хрустящую корочку гриля в кашу за 40 минут.</a:t>
            </a:r>
          </a:p>
          <a:p>
            <a:pPr>
              <a:defRPr b="1" sz="1200">
                <a:solidFill>
                  <a:srgbClr val="22C55E"/>
                </a:solidFill>
              </a:defRPr>
            </a:pPr>
            <a:r>
              <a:t>• Скрытая токсичность: </a:t>
            </a:r>
            <a:r>
              <a:rPr b="0">
                <a:solidFill>
                  <a:srgbClr val="FAF4E4"/>
                </a:solidFill>
              </a:rPr>
              <a:t>Жиростойкость текущих упаковок держится на PFAS-добавках, мигрирующих в горячую пищу.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4"/>
          </a:solidFill>
          <a:ln>
            <a:solidFill>
              <a:srgbClr val="FA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DEEPTECH GIGAHACK 2026 • BIOMENTORHUB × PROFI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524"/>
                </a:solidFill>
                <a:latin typeface="Plus Jakarta Sans"/>
              </a:defRPr>
            </a:pPr>
            <a:r>
              <a:t>Специальный вызов: Инновации для Горячего Гриля (180°C – 250°C)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11480"/>
            <a:ext cx="1828800" cy="6858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75488"/>
            <a:ext cx="164592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РЕШЕНИЕ А: МОНО-ПАКЕТ</a:t>
            </a:r>
          </a:p>
          <a:p>
            <a:pPr>
              <a:defRPr sz="2000" b="1">
                <a:solidFill>
                  <a:srgbClr val="123524"/>
                </a:solidFill>
                <a:latin typeface="Plus Jakarta Sans"/>
              </a:defRPr>
            </a:pPr>
            <a:r>
              <a:t>PackShift CPET Ultra-Flex</a:t>
            </a:r>
          </a:p>
          <a:p>
            <a:pPr>
              <a:defRPr b="1" sz="1150">
                <a:solidFill>
                  <a:srgbClr val="123524"/>
                </a:solidFill>
              </a:defRPr>
            </a:pPr>
            <a:r>
              <a:t>Материал: </a:t>
            </a:r>
            <a:r>
              <a:rPr b="0">
                <a:solidFill>
                  <a:srgbClr val="526B5C"/>
                </a:solidFill>
              </a:rPr>
              <a:t>Модифицированный кристаллический rPET (степень кристалличности &gt; 38%).</a:t>
            </a:r>
          </a:p>
          <a:p>
            <a:pPr>
              <a:defRPr b="1" sz="1150">
                <a:solidFill>
                  <a:srgbClr val="123524"/>
                </a:solidFill>
              </a:defRPr>
            </a:pPr>
            <a:r>
              <a:t>Термостойкость: </a:t>
            </a:r>
            <a:r>
              <a:rPr b="0">
                <a:solidFill>
                  <a:srgbClr val="526B5C"/>
                </a:solidFill>
              </a:rPr>
              <a:t>от -40°C до +250°C (Dual-Ovenable: духовка + СВЧ).</a:t>
            </a:r>
          </a:p>
          <a:p>
            <a:pPr>
              <a:defRPr b="1" sz="1150">
                <a:solidFill>
                  <a:srgbClr val="123524"/>
                </a:solidFill>
              </a:defRPr>
            </a:pPr>
            <a:r>
              <a:t>Тепловая витрина: </a:t>
            </a:r>
            <a:r>
              <a:rPr b="0">
                <a:solidFill>
                  <a:srgbClr val="526B5C"/>
                </a:solidFill>
              </a:rPr>
              <a:t>6+ часов при 95°C–120°C без усадки, протечек и запаха.</a:t>
            </a:r>
          </a:p>
          <a:p>
            <a:pPr>
              <a:defRPr b="1" sz="1150">
                <a:solidFill>
                  <a:srgbClr val="123524"/>
                </a:solidFill>
              </a:defRPr>
            </a:pPr>
            <a:r>
              <a:t>Жиростойкость: </a:t>
            </a:r>
            <a:r>
              <a:rPr b="0">
                <a:solidFill>
                  <a:srgbClr val="526B5C"/>
                </a:solidFill>
              </a:rPr>
              <a:t>Высший класс Kit Test 12. 100% PFAS-Free.</a:t>
            </a:r>
          </a:p>
          <a:p>
            <a:pPr>
              <a:defRPr b="1" sz="1150">
                <a:solidFill>
                  <a:srgbClr val="123524"/>
                </a:solidFill>
              </a:defRPr>
            </a:pPr>
            <a:r>
              <a:t>Рециклинг: </a:t>
            </a:r>
            <a:r>
              <a:rPr b="0">
                <a:solidFill>
                  <a:srgbClr val="526B5C"/>
                </a:solidFill>
              </a:rPr>
              <a:t>100% моно-материал. Поток ПЭТ-бутылок (RecyClass Class A).</a:t>
            </a:r>
          </a:p>
          <a:p>
            <a:pPr>
              <a:defRPr b="1" sz="1150">
                <a:solidFill>
                  <a:srgbClr val="123524"/>
                </a:solidFill>
              </a:defRPr>
            </a:pPr>
            <a:r>
              <a:t>Экономика: </a:t>
            </a:r>
            <a:r>
              <a:rPr b="0">
                <a:solidFill>
                  <a:srgbClr val="526B5C"/>
                </a:solidFill>
              </a:rPr>
              <a:t>Себестоимость на 14% ниже импортных алюминиевых ламинатов.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2352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Plus Jakarta Sans"/>
              </a:defRPr>
            </a:pPr>
            <a:r>
              <a:t>РЕШЕНИЕ Б: БИО-КОМПОЗИТ (ДЛЯ PROFI BIO)</a:t>
            </a:r>
          </a:p>
          <a:p>
            <a:pPr>
              <a:defRPr sz="2000" b="1">
                <a:solidFill>
                  <a:srgbClr val="FFFFFF"/>
                </a:solidFill>
                <a:latin typeface="Plus Jakarta Sans"/>
              </a:defRPr>
            </a:pPr>
            <a:r>
              <a:t>LignoShield™ ThermoBox</a:t>
            </a:r>
          </a:p>
          <a:p>
            <a:pPr>
              <a:defRPr b="1" sz="1150">
                <a:solidFill>
                  <a:srgbClr val="22C55E"/>
                </a:solidFill>
              </a:defRPr>
            </a:pPr>
            <a:r>
              <a:t>Материал: </a:t>
            </a:r>
            <a:r>
              <a:rPr b="0">
                <a:solidFill>
                  <a:srgbClr val="FAF4E4"/>
                </a:solidFill>
              </a:rPr>
              <a:t>100% формованная багасса сахарного тростника + альгинат/хитозан из водорослей.</a:t>
            </a:r>
          </a:p>
          <a:p>
            <a:pPr>
              <a:defRPr b="1" sz="1150">
                <a:solidFill>
                  <a:srgbClr val="22C55E"/>
                </a:solidFill>
              </a:defRPr>
            </a:pPr>
            <a:r>
              <a:t>Дышащая мембрана: </a:t>
            </a:r>
            <a:r>
              <a:rPr b="0">
                <a:solidFill>
                  <a:srgbClr val="FAF4E4"/>
                </a:solidFill>
              </a:rPr>
              <a:t>Микропористая структура отводит влажный пар. Сохраняет корочку хрустящей.</a:t>
            </a:r>
          </a:p>
          <a:p>
            <a:pPr>
              <a:defRPr b="1" sz="1150">
                <a:solidFill>
                  <a:srgbClr val="22C55E"/>
                </a:solidFill>
              </a:defRPr>
            </a:pPr>
            <a:r>
              <a:t>Жиробарьер: </a:t>
            </a:r>
            <a:r>
              <a:rPr b="0">
                <a:solidFill>
                  <a:srgbClr val="FAF4E4"/>
                </a:solidFill>
              </a:rPr>
              <a:t>Водный нано-барьер. 0% пластика, 0% фтора, 0% полиэтилена.</a:t>
            </a:r>
          </a:p>
          <a:p>
            <a:pPr>
              <a:defRPr b="1" sz="1150">
                <a:solidFill>
                  <a:srgbClr val="22C55E"/>
                </a:solidFill>
              </a:defRPr>
            </a:pPr>
            <a:r>
              <a:t>Температура: </a:t>
            </a:r>
            <a:r>
              <a:rPr b="0">
                <a:solidFill>
                  <a:srgbClr val="FAF4E4"/>
                </a:solidFill>
              </a:rPr>
              <a:t>До +220°C кратковременно, 6 часов в витрине гриля.</a:t>
            </a:r>
          </a:p>
          <a:p>
            <a:pPr>
              <a:defRPr b="1" sz="1150">
                <a:solidFill>
                  <a:srgbClr val="22C55E"/>
                </a:solidFill>
              </a:defRPr>
            </a:pPr>
            <a:r>
              <a:t>Утилизация: </a:t>
            </a:r>
            <a:r>
              <a:rPr b="0">
                <a:solidFill>
                  <a:srgbClr val="FAF4E4"/>
                </a:solidFill>
              </a:rPr>
              <a:t>Домашний компост за 60 дней (OK Compost HOME) или макулатура.</a:t>
            </a:r>
          </a:p>
          <a:p>
            <a:pPr>
              <a:defRPr b="1" sz="1150">
                <a:solidFill>
                  <a:srgbClr val="22C55E"/>
                </a:solidFill>
              </a:defRPr>
            </a:pPr>
            <a:r>
              <a:t>Статус: </a:t>
            </a:r>
            <a:r>
              <a:rPr b="0">
                <a:solidFill>
                  <a:srgbClr val="FAF4E4"/>
                </a:solidFill>
              </a:rPr>
              <a:t>Идеальное позиционирование для премиальной эко-линейки Profi.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4"/>
          </a:solidFill>
          <a:ln>
            <a:solidFill>
              <a:srgbClr val="FA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DEEPTECH GIGAHACK 2026 • BIOMENTORHUB × PROFI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524"/>
                </a:solidFill>
                <a:latin typeface="Plus Jakarta Sans"/>
              </a:defRPr>
            </a:pPr>
            <a:r>
              <a:t>Оптимизация отделов Profi: Овощи, Мясо, Выпечка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11480"/>
            <a:ext cx="1828800" cy="6858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75488"/>
            <a:ext cx="164592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803D"/>
                </a:solidFill>
                <a:latin typeface="Plus Jakarta Sans"/>
              </a:defRPr>
            </a:pPr>
            <a:r>
              <a:t>🥬 СВЕЖИЕ ОВОЩИ</a:t>
            </a:r>
          </a:p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EMAP Laser-Breathe™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Проблема: </a:t>
            </a:r>
            <a:r>
              <a:rPr b="0">
                <a:solidFill>
                  <a:srgbClr val="526B5C"/>
                </a:solidFill>
              </a:rPr>
              <a:t>Конденсат, плесень, 28-35% списаний ягод и зелени.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Инновация: </a:t>
            </a:r>
            <a:r>
              <a:rPr b="0">
                <a:solidFill>
                  <a:srgbClr val="526B5C"/>
                </a:solidFill>
              </a:rPr>
              <a:t>Моно-пленка rBOPP с лазерной микроперфорацией. Динамический баланс O₂ (3-5%) и CO₂ (5-8%).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Эффект: </a:t>
            </a:r>
            <a:r>
              <a:rPr b="0">
                <a:solidFill>
                  <a:srgbClr val="526B5C"/>
                </a:solidFill>
              </a:rPr>
              <a:t>+4 дня к сроку годности на полке.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Ритейл: </a:t>
            </a:r>
            <a:r>
              <a:rPr b="0">
                <a:solidFill>
                  <a:srgbClr val="526B5C"/>
                </a:solidFill>
              </a:rPr>
              <a:t>Снижение списаний в супермаркетах на 32%.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803D"/>
                </a:solidFill>
                <a:latin typeface="Plus Jakarta Sans"/>
              </a:defRPr>
            </a:pPr>
            <a:r>
              <a:t>🥩 МЯСНОЙ ОТДЕЛ</a:t>
            </a:r>
          </a:p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Capillary Tray (Pad-Less)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Проблема: </a:t>
            </a:r>
            <a:r>
              <a:rPr b="0">
                <a:solidFill>
                  <a:srgbClr val="526B5C"/>
                </a:solidFill>
              </a:rPr>
              <a:t>Грязная салфетка-вкладыш делает лоток неперерабатываемым.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Инновация: </a:t>
            </a:r>
            <a:r>
              <a:rPr b="0">
                <a:solidFill>
                  <a:srgbClr val="526B5C"/>
                </a:solidFill>
              </a:rPr>
              <a:t>Глубокоформованный моно-rPET лоток с капиллярным гидро-замком. Сбор до 45 мл экссудата.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Эффект: </a:t>
            </a:r>
            <a:r>
              <a:rPr b="0">
                <a:solidFill>
                  <a:srgbClr val="526B5C"/>
                </a:solidFill>
              </a:rPr>
              <a:t>0 синтетических салфеток-вкладышей.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Рециклинг: </a:t>
            </a:r>
            <a:r>
              <a:rPr b="0">
                <a:solidFill>
                  <a:srgbClr val="526B5C"/>
                </a:solidFill>
              </a:rPr>
              <a:t>100% чистый поток сортировки и рециклинга.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803D"/>
                </a:solidFill>
                <a:latin typeface="Plus Jakarta Sans"/>
              </a:defRPr>
            </a:pPr>
            <a:r>
              <a:t>🥐 ПЕКАРНЯ</a:t>
            </a:r>
          </a:p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NatureVent Crisp™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Проблема: </a:t>
            </a:r>
            <a:r>
              <a:rPr b="0">
                <a:solidFill>
                  <a:srgbClr val="526B5C"/>
                </a:solidFill>
              </a:rPr>
              <a:t>Полиэтиленовые окна пакетов сжигаются на полигоне.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Инновация: </a:t>
            </a:r>
            <a:r>
              <a:rPr b="0">
                <a:solidFill>
                  <a:srgbClr val="526B5C"/>
                </a:solidFill>
              </a:rPr>
              <a:t>Крафт FSC + прозрачное смотровое био-окно NatureFlex™ из древесной массы + био-воск.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Эффект: </a:t>
            </a:r>
            <a:r>
              <a:rPr b="0">
                <a:solidFill>
                  <a:srgbClr val="526B5C"/>
                </a:solidFill>
              </a:rPr>
              <a:t>Сохранение хрустящей корочки выпечки.</a:t>
            </a:r>
          </a:p>
          <a:p>
            <a:pPr>
              <a:defRPr b="1" sz="1100">
                <a:solidFill>
                  <a:srgbClr val="123524"/>
                </a:solidFill>
              </a:defRPr>
            </a:pPr>
            <a:r>
              <a:t>• Рециклинг: </a:t>
            </a:r>
            <a:r>
              <a:rPr b="0">
                <a:solidFill>
                  <a:srgbClr val="526B5C"/>
                </a:solidFill>
              </a:rPr>
              <a:t>100% Pulpable (полная переработка с бумагой).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  <a:latin typeface="Plus Jakarta Sans"/>
              </a:defRPr>
            </a:pPr>
            <a:r>
              <a:t>DEEPTECH GIGAHACK 2026 • BIOMENTORHUB × PROFI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Plus Jakarta Sans"/>
              </a:defRPr>
            </a:pPr>
            <a:r>
              <a:t>Экономика и ESG-эффект: Калькулятор для сети Profi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11480"/>
            <a:ext cx="1828800" cy="6858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75488"/>
            <a:ext cx="164592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463040"/>
            <a:ext cx="10698480" cy="68580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🎯 Моделирование эффекта на масштабе 100 супермаркетов Profi (базовый охват)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2514600" cy="274320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C55E"/>
                </a:solidFill>
                <a:latin typeface="JetBrains Mono"/>
              </a:defRPr>
            </a:pPr>
            <a:r>
              <a:t>1 840 т</a:t>
            </a:r>
          </a:p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Первичный пластик</a:t>
            </a:r>
          </a:p>
          <a:p>
            <a:pPr>
              <a:defRPr sz="1100">
                <a:solidFill>
                  <a:srgbClr val="FAF4E4"/>
                </a:solidFill>
                <a:latin typeface="Plus Jakarta Sans"/>
              </a:defRPr>
            </a:pPr>
            <a:r>
              <a:t>Тонн первичных полимеров предотвращено в год благодаря rPET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377440"/>
            <a:ext cx="2514600" cy="274320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56032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C55E"/>
                </a:solidFill>
                <a:latin typeface="JetBrains Mono"/>
              </a:defRPr>
            </a:pPr>
            <a:r>
              <a:t>4 250 т</a:t>
            </a:r>
          </a:p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Сокращение CO₂e</a:t>
            </a:r>
          </a:p>
          <a:p>
            <a:pPr>
              <a:defRPr sz="1100">
                <a:solidFill>
                  <a:srgbClr val="FAF4E4"/>
                </a:solidFill>
                <a:latin typeface="Plus Jakarta Sans"/>
              </a:defRPr>
            </a:pPr>
            <a:r>
              <a:t>Предотвращено выбросов парниковых газов (Scope 3 Profi)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377440"/>
            <a:ext cx="2514600" cy="2743200"/>
          </a:xfrm>
          <a:prstGeom prst="roundRect">
            <a:avLst/>
          </a:prstGeom>
          <a:solidFill>
            <a:srgbClr val="153E2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56032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C55E"/>
                </a:solidFill>
                <a:latin typeface="JetBrains Mono"/>
              </a:defRPr>
            </a:pPr>
            <a:r>
              <a:t>€1 280 000</a:t>
            </a:r>
          </a:p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Экономия на EPR</a:t>
            </a:r>
          </a:p>
          <a:p>
            <a:pPr>
              <a:defRPr sz="1100">
                <a:solidFill>
                  <a:srgbClr val="FAF4E4"/>
                </a:solidFill>
                <a:latin typeface="Plus Jakarta Sans"/>
              </a:defRPr>
            </a:pPr>
            <a:r>
              <a:t>Прямая годовая экономия на налоге за счет моно-материалов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377440"/>
            <a:ext cx="2514600" cy="274320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560320"/>
            <a:ext cx="2240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2C55E"/>
                </a:solidFill>
                <a:latin typeface="JetBrains Mono"/>
              </a:defRPr>
            </a:pPr>
            <a:r>
              <a:t>€700 000</a:t>
            </a:r>
          </a:p>
          <a:p>
            <a:pPr>
              <a:defRPr sz="1400" b="1">
                <a:solidFill>
                  <a:srgbClr val="FFFFFF"/>
                </a:solidFill>
                <a:latin typeface="Plus Jakarta Sans"/>
              </a:defRPr>
            </a:pPr>
            <a:r>
              <a:t>Снижение списаний</a:t>
            </a:r>
          </a:p>
          <a:p>
            <a:pPr>
              <a:defRPr sz="1100">
                <a:solidFill>
                  <a:srgbClr val="FAF4E4"/>
                </a:solidFill>
                <a:latin typeface="Plus Jakarta Sans"/>
              </a:defRPr>
            </a:pPr>
            <a:r>
              <a:t>Сбережение продукции за счет продления свежести (+4 дня)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698480" cy="868680"/>
          </a:xfrm>
          <a:prstGeom prst="roundRect">
            <a:avLst/>
          </a:prstGeom>
          <a:solidFill>
            <a:srgbClr val="153E2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💡 Нулевой CapEx для ритейлера:</a:t>
            </a:r>
            <a:r>
              <a:rPr b="0">
                <a:solidFill>
                  <a:srgbClr val="FFFFFF"/>
                </a:solidFill>
              </a:rPr>
              <a:t> Упаковка PackShift полностью адаптирована под стандартные упаковочные линии, запайщики лотков и витрины сети Profi. Переоборудование магазинов не требуется.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4"/>
          </a:solidFill>
          <a:ln>
            <a:solidFill>
              <a:srgbClr val="FA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DEEPTECH GIGAHACK 2026 • BIOMENTORHUB × PROFI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524"/>
                </a:solidFill>
                <a:latin typeface="Plus Jakarta Sans"/>
              </a:defRPr>
            </a:pPr>
            <a:r>
              <a:t>Стандарты и Сертификация: Регуляторный щит Profi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11480"/>
            <a:ext cx="1828800" cy="6858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75488"/>
            <a:ext cx="164592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37360"/>
            <a:ext cx="2185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JetBrains Mono"/>
              </a:defRPr>
            </a:pPr>
            <a:r>
              <a:t>RECYCLASS</a:t>
            </a:r>
          </a:p>
          <a:p>
            <a:pPr>
              <a:defRPr sz="1700" b="1">
                <a:solidFill>
                  <a:srgbClr val="123524"/>
                </a:solidFill>
                <a:latin typeface="Plus Jakarta Sans"/>
              </a:defRPr>
            </a:pPr>
            <a:r>
              <a:t>Grade A Recyclability</a:t>
            </a:r>
          </a:p>
          <a:p>
            <a:pPr>
              <a:defRPr sz="1200">
                <a:solidFill>
                  <a:srgbClr val="526B5C"/>
                </a:solidFill>
                <a:latin typeface="Plus Jakarta Sans"/>
              </a:defRPr>
            </a:pPr>
            <a:r>
              <a:t>Подтвержденная совместимость с оптическими сепараторами и линиями вторичной переработки в ЕС.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737360"/>
            <a:ext cx="2185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JetBrains Mono"/>
              </a:defRPr>
            </a:pPr>
            <a:r>
              <a:t>EU PPWR</a:t>
            </a:r>
          </a:p>
          <a:p>
            <a:pPr>
              <a:defRPr sz="1700" b="1">
                <a:solidFill>
                  <a:srgbClr val="123524"/>
                </a:solidFill>
                <a:latin typeface="Plus Jakarta Sans"/>
              </a:defRPr>
            </a:pPr>
            <a:r>
              <a:t>PPWR 2030 Ready</a:t>
            </a:r>
          </a:p>
          <a:p>
            <a:pPr>
              <a:defRPr sz="1200">
                <a:solidFill>
                  <a:srgbClr val="526B5C"/>
                </a:solidFill>
                <a:latin typeface="Plus Jakarta Sans"/>
              </a:defRPr>
            </a:pPr>
            <a:r>
              <a:t>Упреждение европейских норм: &gt;35% пищевого rPET, 0% первичного пластика в одноразовых пакетах.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737360"/>
            <a:ext cx="2185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JetBrains Mono"/>
              </a:defRPr>
            </a:pPr>
            <a:r>
              <a:t>ZERO TOXIC</a:t>
            </a:r>
          </a:p>
          <a:p>
            <a:pPr>
              <a:defRPr sz="1700" b="1">
                <a:solidFill>
                  <a:srgbClr val="123524"/>
                </a:solidFill>
                <a:latin typeface="Plus Jakarta Sans"/>
              </a:defRPr>
            </a:pPr>
            <a:r>
              <a:t>100% PFAS-Free</a:t>
            </a:r>
          </a:p>
          <a:p>
            <a:pPr>
              <a:defRPr sz="1200">
                <a:solidFill>
                  <a:srgbClr val="526B5C"/>
                </a:solidFill>
                <a:latin typeface="Plus Jakarta Sans"/>
              </a:defRPr>
            </a:pPr>
            <a:r>
              <a:t>Сертификация отсутствия пер- и полифторалкильных веществ в контакте с горячим маслом до 250°C.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554480"/>
            <a:ext cx="2514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8" y="1737360"/>
            <a:ext cx="21854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JetBrains Mono"/>
              </a:defRPr>
            </a:pPr>
            <a:r>
              <a:t>FOOD SAFE</a:t>
            </a:r>
          </a:p>
          <a:p>
            <a:pPr>
              <a:defRPr sz="1700" b="1">
                <a:solidFill>
                  <a:srgbClr val="123524"/>
                </a:solidFill>
                <a:latin typeface="Plus Jakarta Sans"/>
              </a:defRPr>
            </a:pPr>
            <a:r>
              <a:t>EFSA / FDA Approved</a:t>
            </a:r>
          </a:p>
          <a:p>
            <a:pPr>
              <a:defRPr sz="1200">
                <a:solidFill>
                  <a:srgbClr val="526B5C"/>
                </a:solidFill>
                <a:latin typeface="Plus Jakarta Sans"/>
              </a:defRPr>
            </a:pPr>
            <a:r>
              <a:t>Соответствие Regulation EU No 10/2011 для прямого контакта с горячими, кислыми и жирными продуктами.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4E4"/>
          </a:solidFill>
          <a:ln>
            <a:solidFill>
              <a:srgbClr val="FAF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DEEPTECH GIGAHACK 2026 • BIOMENTORHUB × PROFI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524"/>
                </a:solidFill>
                <a:latin typeface="Plus Jakarta Sans"/>
              </a:defRPr>
            </a:pPr>
            <a:r>
              <a:t>План пилотного внедрения в Profi: 6 недель до результата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411480"/>
            <a:ext cx="1828800" cy="6858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75488"/>
            <a:ext cx="1645920" cy="548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19072"/>
            <a:ext cx="305409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ЭТАП 1 • 2 недели</a:t>
            </a:r>
          </a:p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Лабораторный тест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Тестирование пакетов CPET и термобоксов на витринах гриля Profi при 95°C–120°C.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Проверка герметичности, жиростойкости (Kit 12) и отсутствия посторонних запахов.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Протокол миграции EFSA для контакта с горячим куриным жиром.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719072"/>
            <a:ext cx="305409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ЭТАП 2 • 4 недели</a:t>
            </a:r>
          </a:p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Пилот в 5 магазинах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Запуск в 5 флагманских супермаркетах Profi в отделах Гриль и Овощи.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Сбор обратной связи от поваров кулинарии и покупателей.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Замер динамики списаний и сохранности хрустящей корочки гриля.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3832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719072"/>
            <a:ext cx="305409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Plus Jakarta Sans"/>
              </a:defRPr>
            </a:pPr>
            <a:r>
              <a:t>ЭТАП 3 • Квартал 2</a:t>
            </a:r>
          </a:p>
          <a:p>
            <a:pPr>
              <a:defRPr sz="1800" b="1">
                <a:solidFill>
                  <a:srgbClr val="123524"/>
                </a:solidFill>
                <a:latin typeface="Plus Jakarta Sans"/>
              </a:defRPr>
            </a:pPr>
            <a:r>
              <a:t>Масштабирование на сеть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Полноформатное развертывание в сети магазинов Profi.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Подключение автоматизированного дашборда учета сокращения выбросов Scope 3.</a:t>
            </a:r>
          </a:p>
          <a:p>
            <a:pPr>
              <a:defRPr sz="1100">
                <a:solidFill>
                  <a:srgbClr val="526B5C"/>
                </a:solidFill>
                <a:latin typeface="Plus Jakarta Sans"/>
              </a:defRPr>
            </a:pPr>
            <a:r>
              <a:t>• Оптимизация логистики поставок моно-упаковки.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2352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2C55E"/>
                </a:solidFill>
              </a:defRPr>
            </a:pPr>
            <a:r>
              <a:t>📦 Готовность тестовой партии к передаче:</a:t>
            </a:r>
            <a:r>
              <a:rPr b="0">
                <a:solidFill>
                  <a:srgbClr val="FFFFFF"/>
                </a:solidFill>
              </a:rPr>
              <a:t> Мы подготовили комплект из 200 образцов пакетов CPET Ultra-Flex и биобоксов LignoShield. Готовы передать их технологическому отделу Profi для старта испытаний на следующей неделе.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24"/>
          </a:solidFill>
          <a:ln>
            <a:solidFill>
              <a:srgbClr val="1235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0" y="731520"/>
            <a:ext cx="2743200" cy="914400"/>
          </a:xfrm>
          <a:prstGeom prst="roundRect">
            <a:avLst/>
          </a:prstGeom>
          <a:solidFill>
            <a:srgbClr val="FAF4E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04672"/>
            <a:ext cx="246888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Plus Jakarta Sans"/>
              </a:defRPr>
            </a:pPr>
            <a:r>
              <a:t>Делаем циркулярность прибыльной для Profi уже сегодня</a:t>
            </a:r>
          </a:p>
          <a:p>
            <a:pPr algn="ctr">
              <a:defRPr sz="1800" b="1">
                <a:solidFill>
                  <a:srgbClr val="22C55E"/>
                </a:solidFill>
                <a:latin typeface="Plus Jakarta Sans"/>
              </a:defRPr>
            </a:pPr>
            <a:r>
              <a:t>0% первичного пластика • Защита маржинальности • Соответствие PPWR 2030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931920"/>
            <a:ext cx="7619695" cy="2011680"/>
          </a:xfrm>
          <a:prstGeom prst="roundRect">
            <a:avLst/>
          </a:prstGeom>
          <a:solidFill>
            <a:srgbClr val="153E2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4114800"/>
            <a:ext cx="72539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400">
                <a:solidFill>
                  <a:srgbClr val="FAF4E4"/>
                </a:solidFill>
              </a:defRPr>
            </a:pPr>
            <a:r>
              <a:t>🌐 Интерактивная платформа и ESG-калькулятор:</a:t>
            </a:r>
          </a:p>
          <a:p>
            <a:pPr algn="ctr">
              <a:defRPr b="1" sz="1600">
                <a:solidFill>
                  <a:srgbClr val="22C55E"/>
                </a:solidFill>
                <a:latin typeface="JetBrains Mono"/>
              </a:defRPr>
            </a:pPr>
            <a:r>
              <a:t>https://lisqrn.github.io/Hackaton-202636/</a:t>
            </a:r>
          </a:p>
          <a:p>
            <a:pPr algn="ctr">
              <a:defRPr sz="1200">
                <a:solidFill>
                  <a:srgbClr val="FAF4E4"/>
                </a:solidFill>
              </a:defRPr>
            </a:pPr>
            <a:r>
              <a:t>Открытый репозиторий: github.com/denis100strike/Hackaton-202636 (PR #1)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Спасибо за внимание! Готовы ответить на ваши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